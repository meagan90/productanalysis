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orwester" charset="1" panose="00000506000000000000"/>
      <p:regular r:id="rId16"/>
    </p:embeddedFont>
    <p:embeddedFont>
      <p:font typeface="IBM Plex Sans" charset="1" panose="020B0503050203000203"/>
      <p:regular r:id="rId17"/>
    </p:embeddedFont>
    <p:embeddedFont>
      <p:font typeface="Open Sans" charset="1" panose="020B0606030504020204"/>
      <p:regular r:id="rId18"/>
    </p:embeddedFont>
    <p:embeddedFont>
      <p:font typeface="Open Sans Bold" charset="1" panose="020B0806030504020204"/>
      <p:regular r:id="rId19"/>
    </p:embeddedFont>
    <p:embeddedFont>
      <p:font typeface="IBM Plex Sans Bold" charset="1" panose="020B0803050203000203"/>
      <p:regular r:id="rId20"/>
    </p:embeddedFont>
    <p:embeddedFont>
      <p:font typeface="Inter Medium" charset="1" panose="0200050300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5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3.jpe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3.jpe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2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18260082" cy="10286513"/>
            <a:chOff x="0" y="0"/>
            <a:chExt cx="15240000" cy="858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2" r="0" b="-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59" y="411"/>
            <a:ext cx="18260082" cy="10286102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959" y="1"/>
            <a:ext cx="18260082" cy="10286513"/>
            <a:chOff x="0" y="0"/>
            <a:chExt cx="11430000" cy="643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</a:blip>
              <a:stretch>
                <a:fillRect l="-297" t="0" r="-29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959" y="411"/>
            <a:ext cx="6847531" cy="10286102"/>
            <a:chOff x="0" y="0"/>
            <a:chExt cx="5715000" cy="85848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" t="-3" r="-2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80052" y="3601652"/>
            <a:ext cx="9566883" cy="168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7"/>
              </a:lnSpc>
            </a:pPr>
            <a:r>
              <a:rPr lang="en-US" sz="5391" spc="8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Walmart Sales Analysis 2026: Executive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58879" y="5524182"/>
            <a:ext cx="73299" cy="63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7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80052" y="5714682"/>
            <a:ext cx="9569267" cy="46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2"/>
              </a:lnSpc>
            </a:pPr>
            <a:r>
              <a:rPr lang="en-US" sz="245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 strategic review of fiscal year 2026 performance and future growth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80052" y="6186401"/>
            <a:ext cx="1953607" cy="46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2"/>
              </a:lnSpc>
            </a:pPr>
            <a:r>
              <a:rPr lang="en-US" sz="245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opportunities.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0"/>
            <a:ext cx="17921681" cy="10287000"/>
            <a:chOff x="0" y="0"/>
            <a:chExt cx="15240000" cy="8747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747760"/>
            </a:xfrm>
            <a:custGeom>
              <a:avLst/>
              <a:gdLst/>
              <a:ahLst/>
              <a:cxnLst/>
              <a:rect r="r" b="b" t="t" l="l"/>
              <a:pathLst>
                <a:path h="874776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747760"/>
                  </a:lnTo>
                  <a:lnTo>
                    <a:pt x="0" y="8747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59" y="5960"/>
            <a:ext cx="17921681" cy="10275097"/>
            <a:chOff x="0" y="0"/>
            <a:chExt cx="15240000" cy="8737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737600"/>
            </a:xfrm>
            <a:custGeom>
              <a:avLst/>
              <a:gdLst/>
              <a:ahLst/>
              <a:cxnLst/>
              <a:rect r="r" b="b" t="t" l="l"/>
              <a:pathLst>
                <a:path h="87376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737600"/>
                  </a:lnTo>
                  <a:lnTo>
                    <a:pt x="0" y="873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959" y="5959"/>
            <a:ext cx="17921681" cy="10275097"/>
            <a:chOff x="0" y="0"/>
            <a:chExt cx="11430000" cy="655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6553200"/>
            </a:xfrm>
            <a:custGeom>
              <a:avLst/>
              <a:gdLst/>
              <a:ahLst/>
              <a:cxnLst/>
              <a:rect r="r" b="b" t="t" l="l"/>
              <a:pathLst>
                <a:path h="6553200" w="11430000">
                  <a:moveTo>
                    <a:pt x="0" y="6553200"/>
                  </a:moveTo>
                  <a:lnTo>
                    <a:pt x="11430000" y="65532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</a:blip>
              <a:stretch>
                <a:fillRect l="-1190" t="0" r="-119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959" y="5959"/>
            <a:ext cx="6720630" cy="10275097"/>
            <a:chOff x="0" y="0"/>
            <a:chExt cx="5715000" cy="873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8737600"/>
            </a:xfrm>
            <a:custGeom>
              <a:avLst/>
              <a:gdLst/>
              <a:ahLst/>
              <a:cxnLst/>
              <a:rect r="r" b="b" t="t" l="l"/>
              <a:pathLst>
                <a:path h="87376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737600"/>
                  </a:lnTo>
                  <a:lnTo>
                    <a:pt x="0" y="873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" t="0" r="-17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605777" y="1967382"/>
            <a:ext cx="9428790" cy="2334792"/>
          </a:xfrm>
          <a:custGeom>
            <a:avLst/>
            <a:gdLst/>
            <a:ahLst/>
            <a:cxnLst/>
            <a:rect r="r" b="b" t="t" l="l"/>
            <a:pathLst>
              <a:path h="2334792" w="9428790">
                <a:moveTo>
                  <a:pt x="0" y="0"/>
                </a:moveTo>
                <a:lnTo>
                  <a:pt x="9428790" y="0"/>
                </a:lnTo>
                <a:lnTo>
                  <a:pt x="9428790" y="2334792"/>
                </a:lnTo>
                <a:lnTo>
                  <a:pt x="0" y="23347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05777" y="4386809"/>
            <a:ext cx="9428790" cy="2334792"/>
          </a:xfrm>
          <a:custGeom>
            <a:avLst/>
            <a:gdLst/>
            <a:ahLst/>
            <a:cxnLst/>
            <a:rect r="r" b="b" t="t" l="l"/>
            <a:pathLst>
              <a:path h="2334792" w="9428790">
                <a:moveTo>
                  <a:pt x="0" y="0"/>
                </a:moveTo>
                <a:lnTo>
                  <a:pt x="9428790" y="0"/>
                </a:lnTo>
                <a:lnTo>
                  <a:pt x="9428790" y="2334792"/>
                </a:lnTo>
                <a:lnTo>
                  <a:pt x="0" y="23347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605777" y="6806236"/>
            <a:ext cx="9428790" cy="2782834"/>
          </a:xfrm>
          <a:custGeom>
            <a:avLst/>
            <a:gdLst/>
            <a:ahLst/>
            <a:cxnLst/>
            <a:rect r="r" b="b" t="t" l="l"/>
            <a:pathLst>
              <a:path h="2782834" w="9428790">
                <a:moveTo>
                  <a:pt x="0" y="0"/>
                </a:moveTo>
                <a:lnTo>
                  <a:pt x="9428790" y="0"/>
                </a:lnTo>
                <a:lnTo>
                  <a:pt x="9428790" y="2782834"/>
                </a:lnTo>
                <a:lnTo>
                  <a:pt x="0" y="27828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734275" y="925517"/>
            <a:ext cx="5863750" cy="7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1"/>
              </a:lnSpc>
            </a:pPr>
            <a:r>
              <a:rPr lang="en-US" sz="5291" spc="7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Executive Summary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91054" y="2056123"/>
            <a:ext cx="84665" cy="74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sz="2645" spc="39">
                <a:solidFill>
                  <a:srgbClr val="2B354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39395" y="4751775"/>
            <a:ext cx="8556482" cy="1322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4"/>
              </a:lnSpc>
            </a:pPr>
            <a:r>
              <a:rPr lang="en-US" b="true" sz="2645" spc="39">
                <a:solidFill>
                  <a:srgbClr val="2B354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Enhanced Profitability</a:t>
            </a:r>
          </a:p>
          <a:p>
            <a:pPr algn="l">
              <a:lnSpc>
                <a:spcPts val="3644"/>
              </a:lnSpc>
            </a:pPr>
            <a:r>
              <a:rPr lang="en-US" sz="2248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Operating income rose </a:t>
            </a:r>
            <a:r>
              <a:rPr lang="en-US" b="true" sz="2248" spc="-2">
                <a:solidFill>
                  <a:srgbClr val="2B354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10.8%</a:t>
            </a:r>
            <a:r>
              <a:rPr lang="en-US" sz="2248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a testament to improved margins and strategic business mix adjustments.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39395" y="2218048"/>
            <a:ext cx="4091650" cy="56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0"/>
              </a:lnSpc>
            </a:pPr>
            <a:r>
              <a:rPr lang="en-US" b="true" sz="2645" spc="39">
                <a:solidFill>
                  <a:srgbClr val="2B354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Strong</a:t>
            </a:r>
            <a:r>
              <a:rPr lang="en-US" b="true" sz="2645" spc="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2645" spc="39">
                <a:solidFill>
                  <a:srgbClr val="2B354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Revenue</a:t>
            </a:r>
            <a:r>
              <a:rPr lang="en-US" b="true" sz="2645" spc="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2645" spc="39">
                <a:solidFill>
                  <a:srgbClr val="2B354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Growth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50106" y="2838993"/>
            <a:ext cx="71941" cy="527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8"/>
              </a:lnSpc>
            </a:pPr>
            <a:r>
              <a:rPr lang="en-US" sz="2248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39395" y="7047377"/>
            <a:ext cx="6095394" cy="57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4"/>
              </a:lnSpc>
            </a:pPr>
            <a:r>
              <a:rPr lang="en-US" b="true" sz="2645" spc="39">
                <a:solidFill>
                  <a:srgbClr val="2B354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Omnichannel &amp; Membership Power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39395" y="7683256"/>
            <a:ext cx="7659861" cy="144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2248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>
              <a:lnSpc>
                <a:spcPts val="3606"/>
              </a:lnSpc>
            </a:pPr>
            <a:r>
              <a:rPr lang="en-US" sz="2248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programs (Walmart+, Sam9s Club) are key drivers of sustained profitability and customer loyalty.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39395" y="2934243"/>
            <a:ext cx="7683189" cy="43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248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FY26revenueshit </a:t>
            </a:r>
            <a:r>
              <a:rPr lang="en-US" b="true" sz="2248" spc="-2">
                <a:solidFill>
                  <a:srgbClr val="2B354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$713billion</a:t>
            </a:r>
            <a:r>
              <a:rPr lang="en-US" sz="2248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,a</a:t>
            </a:r>
            <a:r>
              <a:rPr lang="en-US" b="true" sz="2248" spc="-2">
                <a:solidFill>
                  <a:srgbClr val="2B354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5.6% YoY increase</a:t>
            </a:r>
            <a:r>
              <a:rPr lang="en-US" sz="2248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fueled by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39395" y="3397219"/>
            <a:ext cx="7306296" cy="43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248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Walmart U.S. and significant global eCommerce expansion.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39395" y="7788031"/>
            <a:ext cx="8363675" cy="43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6"/>
              </a:lnSpc>
            </a:pPr>
            <a:r>
              <a:rPr lang="en-US" sz="2248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Walmart's strong omnichannelpresence andgrowing membership </a:t>
            </a:r>
          </a:p>
        </p:txBody>
      </p:sp>
    </p:spTree>
  </p:cSld>
  <p:clrMapOvr>
    <a:masterClrMapping/>
  </p:clrMapOvr>
  <p:transition spd="slow">
    <p:circl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18260082" cy="10286513"/>
            <a:chOff x="0" y="0"/>
            <a:chExt cx="15240000" cy="858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2" r="0" b="-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59" y="411"/>
            <a:ext cx="18260082" cy="10286102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959" y="1"/>
            <a:ext cx="18260082" cy="10286513"/>
            <a:chOff x="0" y="0"/>
            <a:chExt cx="11430000" cy="643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</a:blip>
              <a:stretch>
                <a:fillRect l="-297" t="0" r="-29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26510" y="411"/>
            <a:ext cx="6847531" cy="10286102"/>
            <a:chOff x="0" y="0"/>
            <a:chExt cx="5715000" cy="85848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" t="-3" r="-2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4347" y="4854139"/>
            <a:ext cx="91300" cy="91300"/>
            <a:chOff x="0" y="0"/>
            <a:chExt cx="57150" cy="57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4347" y="5888877"/>
            <a:ext cx="91300" cy="91300"/>
            <a:chOff x="0" y="0"/>
            <a:chExt cx="5715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4347" y="6923615"/>
            <a:ext cx="91300" cy="91300"/>
            <a:chOff x="0" y="0"/>
            <a:chExt cx="5715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46303" y="4336770"/>
            <a:ext cx="91300" cy="91300"/>
            <a:chOff x="0" y="0"/>
            <a:chExt cx="57150" cy="57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B354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146303" y="6299728"/>
            <a:ext cx="91300" cy="91300"/>
            <a:chOff x="0" y="0"/>
            <a:chExt cx="5715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B3541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32521" y="1507085"/>
            <a:ext cx="7096864" cy="1094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52"/>
              </a:lnSpc>
            </a:pPr>
            <a:r>
              <a:rPr lang="en-US" sz="5391" spc="8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Sales Trends Overview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35878" y="2937224"/>
            <a:ext cx="103504" cy="89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7"/>
              </a:lnSpc>
            </a:pPr>
            <a:r>
              <a:rPr lang="en-US" sz="3235" spc="48">
                <a:solidFill>
                  <a:srgbClr val="051D3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2521" y="3318224"/>
            <a:ext cx="2739171" cy="496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2"/>
              </a:lnSpc>
            </a:pPr>
            <a:r>
              <a:rPr lang="en-US" b="true" sz="3235" spc="4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Walmart U.S.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2521" y="3835593"/>
            <a:ext cx="2730770" cy="496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2"/>
              </a:lnSpc>
            </a:pPr>
            <a:r>
              <a:rPr lang="en-US" b="true" sz="3235" spc="4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Performance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90427" y="3108674"/>
            <a:ext cx="4518103" cy="70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8"/>
              </a:lnSpc>
            </a:pPr>
            <a:r>
              <a:rPr lang="en-US" b="true" sz="3235" spc="4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&amp; Club Growth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35374" y="3911208"/>
            <a:ext cx="73299" cy="63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7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97834" y="4638127"/>
            <a:ext cx="3661573" cy="29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 sales (excluding fuel) climbed </a:t>
            </a: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4.6%</a:t>
            </a: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  <a:p>
            <a:pPr algn="l">
              <a:lnSpc>
                <a:spcPts val="5511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Driven by robust transaction </a:t>
            </a:r>
          </a:p>
          <a:p>
            <a:pPr algn="l">
              <a:lnSpc>
                <a:spcPts val="1676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growth at </a:t>
            </a: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+2.6%</a:t>
            </a: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  <a:p>
            <a:pPr algn="l">
              <a:lnSpc>
                <a:spcPts val="5727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Supported by an average </a:t>
            </a:r>
          </a:p>
          <a:p>
            <a:pPr algn="l">
              <a:lnSpc>
                <a:spcPts val="1461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ticket increase of </a:t>
            </a: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+2.0%</a:t>
            </a: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55740" y="4111233"/>
            <a:ext cx="3435102" cy="43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International salesjumped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55740" y="4582952"/>
            <a:ext cx="3492073" cy="380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3"/>
              </a:lnSpc>
            </a:pP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7.5%</a:t>
            </a: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(constant currency), influenced by events like </a:t>
            </a:r>
          </a:p>
          <a:p>
            <a:pPr algn="just">
              <a:lnSpc>
                <a:spcPts val="3954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Flipkart's Big Billion Days.</a:t>
            </a:r>
          </a:p>
          <a:p>
            <a:pPr algn="just">
              <a:lnSpc>
                <a:spcPts val="4911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Sam9s Club U.S. saw a </a:t>
            </a: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4.0%</a:t>
            </a: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just">
              <a:lnSpc>
                <a:spcPts val="2515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rise in comparable sales, </a:t>
            </a:r>
          </a:p>
          <a:p>
            <a:pPr algn="just">
              <a:lnSpc>
                <a:spcPts val="4673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bolstered by omnichannel </a:t>
            </a:r>
          </a:p>
          <a:p>
            <a:pPr algn="just">
              <a:lnSpc>
                <a:spcPts val="2755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capabilities and expanding </a:t>
            </a:r>
          </a:p>
          <a:p>
            <a:pPr algn="just">
              <a:lnSpc>
                <a:spcPts val="4673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membership.</a:t>
            </a:r>
          </a:p>
        </p:txBody>
      </p:sp>
    </p:spTree>
  </p:cSld>
  <p:clrMapOvr>
    <a:masterClrMapping/>
  </p:clrMapOvr>
  <p:transition spd="fast">
    <p:circl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18260082" cy="10286513"/>
            <a:chOff x="0" y="0"/>
            <a:chExt cx="15240000" cy="858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2" r="0" b="-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59" y="411"/>
            <a:ext cx="18260082" cy="10286102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959" y="1"/>
            <a:ext cx="18260082" cy="10286513"/>
            <a:chOff x="0" y="0"/>
            <a:chExt cx="11430000" cy="643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</a:blip>
              <a:stretch>
                <a:fillRect l="-297" t="0" r="-29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959" y="411"/>
            <a:ext cx="6847531" cy="10286102"/>
            <a:chOff x="0" y="0"/>
            <a:chExt cx="5715000" cy="85848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" t="-3" r="-2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941878" y="3241165"/>
            <a:ext cx="91300" cy="91300"/>
            <a:chOff x="0" y="0"/>
            <a:chExt cx="57150" cy="57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B354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941878" y="4732405"/>
            <a:ext cx="91300" cy="91300"/>
            <a:chOff x="0" y="0"/>
            <a:chExt cx="5715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B354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941878" y="5767143"/>
            <a:ext cx="91300" cy="91300"/>
            <a:chOff x="0" y="0"/>
            <a:chExt cx="5715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B354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61490" y="7068033"/>
            <a:ext cx="10856228" cy="1907159"/>
            <a:chOff x="0" y="0"/>
            <a:chExt cx="6795520" cy="1193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1986" y="63627"/>
              <a:ext cx="6651547" cy="1066672"/>
            </a:xfrm>
            <a:custGeom>
              <a:avLst/>
              <a:gdLst/>
              <a:ahLst/>
              <a:cxnLst/>
              <a:rect r="r" b="b" t="t" l="l"/>
              <a:pathLst>
                <a:path h="1066672" w="6651547">
                  <a:moveTo>
                    <a:pt x="0" y="1002918"/>
                  </a:moveTo>
                  <a:lnTo>
                    <a:pt x="0" y="63627"/>
                  </a:lnTo>
                  <a:cubicBezTo>
                    <a:pt x="0" y="59436"/>
                    <a:pt x="432" y="55245"/>
                    <a:pt x="1440" y="51181"/>
                  </a:cubicBezTo>
                  <a:cubicBezTo>
                    <a:pt x="2448" y="47117"/>
                    <a:pt x="3744" y="43053"/>
                    <a:pt x="5615" y="39243"/>
                  </a:cubicBezTo>
                  <a:cubicBezTo>
                    <a:pt x="7487" y="35433"/>
                    <a:pt x="9647" y="31750"/>
                    <a:pt x="12238" y="28194"/>
                  </a:cubicBezTo>
                  <a:cubicBezTo>
                    <a:pt x="14830" y="24638"/>
                    <a:pt x="17853" y="21463"/>
                    <a:pt x="21164" y="18542"/>
                  </a:cubicBezTo>
                  <a:cubicBezTo>
                    <a:pt x="24476" y="15621"/>
                    <a:pt x="28219" y="12954"/>
                    <a:pt x="32106" y="10668"/>
                  </a:cubicBezTo>
                  <a:cubicBezTo>
                    <a:pt x="35994" y="8382"/>
                    <a:pt x="40169" y="6350"/>
                    <a:pt x="44632" y="4826"/>
                  </a:cubicBezTo>
                  <a:cubicBezTo>
                    <a:pt x="49095" y="3302"/>
                    <a:pt x="53558" y="2032"/>
                    <a:pt x="58165" y="1270"/>
                  </a:cubicBezTo>
                  <a:cubicBezTo>
                    <a:pt x="62773" y="508"/>
                    <a:pt x="67524" y="0"/>
                    <a:pt x="72275" y="0"/>
                  </a:cubicBezTo>
                  <a:lnTo>
                    <a:pt x="6579273" y="0"/>
                  </a:lnTo>
                  <a:cubicBezTo>
                    <a:pt x="6584024" y="0"/>
                    <a:pt x="6588775" y="381"/>
                    <a:pt x="6593382" y="1270"/>
                  </a:cubicBezTo>
                  <a:cubicBezTo>
                    <a:pt x="6597989" y="2159"/>
                    <a:pt x="6602597" y="3302"/>
                    <a:pt x="6606916" y="4826"/>
                  </a:cubicBezTo>
                  <a:cubicBezTo>
                    <a:pt x="6611235" y="6350"/>
                    <a:pt x="6615410" y="8382"/>
                    <a:pt x="6619441" y="10668"/>
                  </a:cubicBezTo>
                  <a:cubicBezTo>
                    <a:pt x="6623473" y="12954"/>
                    <a:pt x="6627072" y="15621"/>
                    <a:pt x="6630383" y="18542"/>
                  </a:cubicBezTo>
                  <a:cubicBezTo>
                    <a:pt x="6633695" y="21463"/>
                    <a:pt x="6636718" y="24765"/>
                    <a:pt x="6639310" y="28194"/>
                  </a:cubicBezTo>
                  <a:cubicBezTo>
                    <a:pt x="6641901" y="31623"/>
                    <a:pt x="6644205" y="35306"/>
                    <a:pt x="6645933" y="39243"/>
                  </a:cubicBezTo>
                  <a:cubicBezTo>
                    <a:pt x="6647660" y="43180"/>
                    <a:pt x="6649100" y="47117"/>
                    <a:pt x="6650108" y="51181"/>
                  </a:cubicBezTo>
                  <a:cubicBezTo>
                    <a:pt x="6651115" y="55245"/>
                    <a:pt x="6651547" y="59436"/>
                    <a:pt x="6651547" y="63627"/>
                  </a:cubicBezTo>
                  <a:lnTo>
                    <a:pt x="6651547" y="1002918"/>
                  </a:lnTo>
                  <a:cubicBezTo>
                    <a:pt x="6651547" y="1007109"/>
                    <a:pt x="6651115" y="1011300"/>
                    <a:pt x="6650108" y="1015364"/>
                  </a:cubicBezTo>
                  <a:cubicBezTo>
                    <a:pt x="6649100" y="1019428"/>
                    <a:pt x="6647804" y="1023492"/>
                    <a:pt x="6645933" y="1027302"/>
                  </a:cubicBezTo>
                  <a:cubicBezTo>
                    <a:pt x="6644061" y="1031112"/>
                    <a:pt x="6641901" y="1034795"/>
                    <a:pt x="6639310" y="1038351"/>
                  </a:cubicBezTo>
                  <a:cubicBezTo>
                    <a:pt x="6636718" y="1041907"/>
                    <a:pt x="6633695" y="1045082"/>
                    <a:pt x="6630383" y="1048003"/>
                  </a:cubicBezTo>
                  <a:cubicBezTo>
                    <a:pt x="6627072" y="1050924"/>
                    <a:pt x="6623329" y="1053591"/>
                    <a:pt x="6619441" y="1055877"/>
                  </a:cubicBezTo>
                  <a:cubicBezTo>
                    <a:pt x="6615554" y="1058163"/>
                    <a:pt x="6611379" y="1060195"/>
                    <a:pt x="6606916" y="1061719"/>
                  </a:cubicBezTo>
                  <a:cubicBezTo>
                    <a:pt x="6602453" y="1063243"/>
                    <a:pt x="6597989" y="1064513"/>
                    <a:pt x="6593382" y="1065402"/>
                  </a:cubicBezTo>
                  <a:cubicBezTo>
                    <a:pt x="6588775" y="1066291"/>
                    <a:pt x="6584024" y="1066672"/>
                    <a:pt x="6579273" y="1066672"/>
                  </a:cubicBezTo>
                  <a:lnTo>
                    <a:pt x="72275" y="1066672"/>
                  </a:lnTo>
                  <a:cubicBezTo>
                    <a:pt x="67524" y="1066672"/>
                    <a:pt x="62773" y="1066291"/>
                    <a:pt x="58165" y="1065402"/>
                  </a:cubicBezTo>
                  <a:cubicBezTo>
                    <a:pt x="53558" y="1064513"/>
                    <a:pt x="48951" y="1063370"/>
                    <a:pt x="44632" y="1061719"/>
                  </a:cubicBezTo>
                  <a:cubicBezTo>
                    <a:pt x="40313" y="1060068"/>
                    <a:pt x="36138" y="1058163"/>
                    <a:pt x="32106" y="1055877"/>
                  </a:cubicBezTo>
                  <a:cubicBezTo>
                    <a:pt x="28075" y="1053591"/>
                    <a:pt x="24476" y="1050924"/>
                    <a:pt x="21164" y="1048003"/>
                  </a:cubicBezTo>
                  <a:cubicBezTo>
                    <a:pt x="17853" y="1045082"/>
                    <a:pt x="14830" y="1041780"/>
                    <a:pt x="12238" y="1038351"/>
                  </a:cubicBezTo>
                  <a:cubicBezTo>
                    <a:pt x="9647" y="1034922"/>
                    <a:pt x="7343" y="1031239"/>
                    <a:pt x="5615" y="1027302"/>
                  </a:cubicBezTo>
                  <a:cubicBezTo>
                    <a:pt x="3888" y="1023365"/>
                    <a:pt x="2448" y="1019428"/>
                    <a:pt x="1440" y="1015364"/>
                  </a:cubicBezTo>
                  <a:cubicBezTo>
                    <a:pt x="432" y="1011300"/>
                    <a:pt x="0" y="1007109"/>
                    <a:pt x="0" y="1002918"/>
                  </a:cubicBezTo>
                </a:path>
              </a:pathLst>
            </a:custGeom>
            <a:solidFill>
              <a:srgbClr val="C5DBED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5876" y="351155"/>
              <a:ext cx="180686" cy="159385"/>
            </a:xfrm>
            <a:custGeom>
              <a:avLst/>
              <a:gdLst/>
              <a:ahLst/>
              <a:cxnLst/>
              <a:rect r="r" b="b" t="t" l="l"/>
              <a:pathLst>
                <a:path h="159385" w="180686">
                  <a:moveTo>
                    <a:pt x="25772" y="17018"/>
                  </a:moveTo>
                  <a:cubicBezTo>
                    <a:pt x="22172" y="17018"/>
                    <a:pt x="19293" y="19558"/>
                    <a:pt x="19293" y="22733"/>
                  </a:cubicBezTo>
                  <a:lnTo>
                    <a:pt x="19293" y="136524"/>
                  </a:lnTo>
                  <a:cubicBezTo>
                    <a:pt x="19293" y="139699"/>
                    <a:pt x="22172" y="142239"/>
                    <a:pt x="25772" y="142239"/>
                  </a:cubicBezTo>
                  <a:lnTo>
                    <a:pt x="116187" y="142239"/>
                  </a:lnTo>
                  <a:lnTo>
                    <a:pt x="116187" y="113792"/>
                  </a:lnTo>
                  <a:cubicBezTo>
                    <a:pt x="116187" y="107442"/>
                    <a:pt x="121945" y="102362"/>
                    <a:pt x="129144" y="102362"/>
                  </a:cubicBezTo>
                  <a:lnTo>
                    <a:pt x="161394" y="102362"/>
                  </a:lnTo>
                  <a:lnTo>
                    <a:pt x="161394" y="22733"/>
                  </a:lnTo>
                  <a:cubicBezTo>
                    <a:pt x="161394" y="19558"/>
                    <a:pt x="158515" y="17018"/>
                    <a:pt x="154915" y="17018"/>
                  </a:cubicBezTo>
                  <a:lnTo>
                    <a:pt x="25772" y="17018"/>
                  </a:lnTo>
                  <a:close/>
                  <a:moveTo>
                    <a:pt x="116187" y="159384"/>
                  </a:moveTo>
                  <a:lnTo>
                    <a:pt x="25772" y="159384"/>
                  </a:lnTo>
                  <a:cubicBezTo>
                    <a:pt x="11518" y="159384"/>
                    <a:pt x="0" y="149224"/>
                    <a:pt x="0" y="136651"/>
                  </a:cubicBezTo>
                  <a:lnTo>
                    <a:pt x="0" y="22733"/>
                  </a:lnTo>
                  <a:cubicBezTo>
                    <a:pt x="0" y="10160"/>
                    <a:pt x="11518" y="0"/>
                    <a:pt x="25772" y="0"/>
                  </a:cubicBezTo>
                  <a:lnTo>
                    <a:pt x="154915" y="0"/>
                  </a:lnTo>
                  <a:cubicBezTo>
                    <a:pt x="169169" y="0"/>
                    <a:pt x="180686" y="10160"/>
                    <a:pt x="180686" y="22733"/>
                  </a:cubicBezTo>
                  <a:lnTo>
                    <a:pt x="180686" y="102362"/>
                  </a:lnTo>
                  <a:lnTo>
                    <a:pt x="180686" y="104267"/>
                  </a:lnTo>
                  <a:cubicBezTo>
                    <a:pt x="180686" y="110363"/>
                    <a:pt x="177951" y="116078"/>
                    <a:pt x="173200" y="120396"/>
                  </a:cubicBezTo>
                  <a:lnTo>
                    <a:pt x="136631" y="152653"/>
                  </a:lnTo>
                  <a:cubicBezTo>
                    <a:pt x="131736" y="156844"/>
                    <a:pt x="125257" y="159257"/>
                    <a:pt x="118346" y="159257"/>
                  </a:cubicBezTo>
                  <a:lnTo>
                    <a:pt x="116187" y="159257"/>
                  </a:lnTo>
                </a:path>
              </a:pathLst>
            </a:custGeom>
            <a:solidFill>
              <a:srgbClr val="24507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880052" y="2135735"/>
            <a:ext cx="8237009" cy="46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5391" spc="8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Top Performing Categories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29054" y="2815603"/>
            <a:ext cx="73299" cy="63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7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45365" y="3015628"/>
            <a:ext cx="8647229" cy="44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Grocery:</a:t>
            </a: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Continues asthe dominant segment,demonstrating stable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45350" y="3487347"/>
            <a:ext cx="8972213" cy="3580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growth, amplified by fresh produce and an expanding private label selection.</a:t>
            </a:r>
          </a:p>
          <a:p>
            <a:pPr algn="l">
              <a:lnSpc>
                <a:spcPts val="5392"/>
              </a:lnSpc>
            </a:pP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Health &amp; Wellness: Experienced accelerated growth, reflecting a </a:t>
            </a:r>
          </a:p>
          <a:p>
            <a:pPr algn="l">
              <a:lnSpc>
                <a:spcPts val="2036"/>
              </a:lnSpc>
            </a:pP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broader consumer trend toward personal well-being products.</a:t>
            </a:r>
          </a:p>
          <a:p>
            <a:pPr algn="l">
              <a:lnSpc>
                <a:spcPts val="5727"/>
              </a:lnSpc>
            </a:pP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General Merchandise: Saw significant gains, particularly in electronics </a:t>
            </a:r>
          </a:p>
          <a:p>
            <a:pPr algn="l">
              <a:lnSpc>
                <a:spcPts val="1702"/>
              </a:lnSpc>
            </a:pP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and home improvement sectors.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25864" y="6969772"/>
            <a:ext cx="8207314" cy="1110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7"/>
              </a:lnSpc>
            </a:pPr>
            <a:r>
              <a:rPr lang="en-US" sz="2290" spc="-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 detailed insights into category-level sales and margin trends, </a:t>
            </a:r>
          </a:p>
          <a:p>
            <a:pPr algn="l">
              <a:lnSpc>
                <a:spcPts val="1702"/>
              </a:lnSpc>
            </a:pPr>
            <a:r>
              <a:rPr lang="en-US" sz="2290" spc="-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 to the "Product Performance" sheet charts.</a:t>
            </a:r>
          </a:p>
        </p:txBody>
      </p:sp>
    </p:spTree>
  </p:cSld>
  <p:clrMapOvr>
    <a:masterClrMapping/>
  </p:clrMapOvr>
  <p:transition spd="fast">
    <p:circl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0"/>
            <a:ext cx="15634524" cy="10287000"/>
            <a:chOff x="0" y="0"/>
            <a:chExt cx="11557000" cy="7604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7477127"/>
            </a:xfrm>
            <a:custGeom>
              <a:avLst/>
              <a:gdLst/>
              <a:ahLst/>
              <a:cxnLst/>
              <a:rect r="r" b="b" t="t" l="l"/>
              <a:pathLst>
                <a:path h="7477127" w="11430000">
                  <a:moveTo>
                    <a:pt x="0" y="0"/>
                  </a:moveTo>
                  <a:lnTo>
                    <a:pt x="0" y="7477127"/>
                  </a:lnTo>
                  <a:lnTo>
                    <a:pt x="11430000" y="7477127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7477127"/>
            </a:xfrm>
            <a:custGeom>
              <a:avLst/>
              <a:gdLst/>
              <a:ahLst/>
              <a:cxnLst/>
              <a:rect r="r" b="b" t="t" l="l"/>
              <a:pathLst>
                <a:path h="7477127" w="11430000">
                  <a:moveTo>
                    <a:pt x="0" y="0"/>
                  </a:moveTo>
                  <a:lnTo>
                    <a:pt x="0" y="7477127"/>
                  </a:lnTo>
                  <a:lnTo>
                    <a:pt x="11430000" y="7477127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867" y="85908"/>
            <a:ext cx="15462720" cy="10115196"/>
            <a:chOff x="0" y="0"/>
            <a:chExt cx="15240000" cy="9969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00" cy="9969500"/>
            </a:xfrm>
            <a:custGeom>
              <a:avLst/>
              <a:gdLst/>
              <a:ahLst/>
              <a:cxnLst/>
              <a:rect r="r" b="b" t="t" l="l"/>
              <a:pathLst>
                <a:path h="99695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969500"/>
                  </a:lnTo>
                  <a:lnTo>
                    <a:pt x="0" y="996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9867" y="85906"/>
            <a:ext cx="15462720" cy="10115196"/>
            <a:chOff x="0" y="0"/>
            <a:chExt cx="11430000" cy="74771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30000" cy="7477125"/>
            </a:xfrm>
            <a:custGeom>
              <a:avLst/>
              <a:gdLst/>
              <a:ahLst/>
              <a:cxnLst/>
              <a:rect r="r" b="b" t="t" l="l"/>
              <a:pathLst>
                <a:path h="7477125" w="11430000">
                  <a:moveTo>
                    <a:pt x="0" y="0"/>
                  </a:moveTo>
                  <a:lnTo>
                    <a:pt x="0" y="7477125"/>
                  </a:lnTo>
                  <a:lnTo>
                    <a:pt x="11430000" y="7477125"/>
                  </a:lnTo>
                  <a:lnTo>
                    <a:pt x="11430000" y="0"/>
                  </a:lnTo>
                  <a:close/>
                </a:path>
              </a:pathLst>
            </a:custGeom>
            <a:blipFill>
              <a:blip r:embed="rId3">
                <a:alphaModFix amt="80000"/>
              </a:blip>
              <a:stretch>
                <a:fillRect l="-8407" t="0" r="-840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3143" y="2843427"/>
            <a:ext cx="8723551" cy="4870757"/>
            <a:chOff x="0" y="0"/>
            <a:chExt cx="8597900" cy="4800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97900" cy="4800600"/>
            </a:xfrm>
            <a:custGeom>
              <a:avLst/>
              <a:gdLst/>
              <a:ahLst/>
              <a:cxnLst/>
              <a:rect r="r" b="b" t="t" l="l"/>
              <a:pathLst>
                <a:path h="4800600" w="8597900">
                  <a:moveTo>
                    <a:pt x="84709" y="0"/>
                  </a:moveTo>
                  <a:cubicBezTo>
                    <a:pt x="73533" y="0"/>
                    <a:pt x="62865" y="2159"/>
                    <a:pt x="52451" y="6477"/>
                  </a:cubicBezTo>
                  <a:cubicBezTo>
                    <a:pt x="42037" y="10795"/>
                    <a:pt x="32893" y="16891"/>
                    <a:pt x="24892" y="24892"/>
                  </a:cubicBezTo>
                  <a:cubicBezTo>
                    <a:pt x="16891" y="32893"/>
                    <a:pt x="10795" y="42037"/>
                    <a:pt x="6477" y="52451"/>
                  </a:cubicBezTo>
                  <a:cubicBezTo>
                    <a:pt x="2159" y="62865"/>
                    <a:pt x="0" y="73787"/>
                    <a:pt x="0" y="84963"/>
                  </a:cubicBezTo>
                  <a:lnTo>
                    <a:pt x="0" y="4715637"/>
                  </a:lnTo>
                  <a:cubicBezTo>
                    <a:pt x="0" y="4726940"/>
                    <a:pt x="2159" y="4737735"/>
                    <a:pt x="6477" y="4748149"/>
                  </a:cubicBezTo>
                  <a:cubicBezTo>
                    <a:pt x="10795" y="4758563"/>
                    <a:pt x="16891" y="4767707"/>
                    <a:pt x="24892" y="4775708"/>
                  </a:cubicBezTo>
                  <a:cubicBezTo>
                    <a:pt x="32893" y="4783709"/>
                    <a:pt x="42037" y="4789805"/>
                    <a:pt x="52451" y="4794123"/>
                  </a:cubicBezTo>
                  <a:cubicBezTo>
                    <a:pt x="62865" y="4798441"/>
                    <a:pt x="73660" y="4800600"/>
                    <a:pt x="84963" y="4800600"/>
                  </a:cubicBezTo>
                  <a:lnTo>
                    <a:pt x="8512937" y="4800600"/>
                  </a:lnTo>
                  <a:cubicBezTo>
                    <a:pt x="8524240" y="4800600"/>
                    <a:pt x="8535035" y="4798441"/>
                    <a:pt x="8545449" y="4794123"/>
                  </a:cubicBezTo>
                  <a:cubicBezTo>
                    <a:pt x="8555863" y="4789805"/>
                    <a:pt x="8565007" y="4783709"/>
                    <a:pt x="8573008" y="4775708"/>
                  </a:cubicBezTo>
                  <a:cubicBezTo>
                    <a:pt x="8581009" y="4767707"/>
                    <a:pt x="8587105" y="4758563"/>
                    <a:pt x="8591423" y="4748149"/>
                  </a:cubicBezTo>
                  <a:cubicBezTo>
                    <a:pt x="8595741" y="4737735"/>
                    <a:pt x="8597900" y="4726940"/>
                    <a:pt x="8597900" y="4715637"/>
                  </a:cubicBezTo>
                  <a:lnTo>
                    <a:pt x="8597900" y="84963"/>
                  </a:lnTo>
                  <a:cubicBezTo>
                    <a:pt x="8597900" y="73660"/>
                    <a:pt x="8595741" y="62865"/>
                    <a:pt x="8591423" y="52451"/>
                  </a:cubicBezTo>
                  <a:cubicBezTo>
                    <a:pt x="8587105" y="42037"/>
                    <a:pt x="8581009" y="32893"/>
                    <a:pt x="8573008" y="24892"/>
                  </a:cubicBezTo>
                  <a:cubicBezTo>
                    <a:pt x="8565007" y="16891"/>
                    <a:pt x="8555863" y="10795"/>
                    <a:pt x="8545449" y="6477"/>
                  </a:cubicBezTo>
                  <a:cubicBezTo>
                    <a:pt x="8535035" y="2159"/>
                    <a:pt x="8524367" y="0"/>
                    <a:pt x="851319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343919" y="2250689"/>
            <a:ext cx="77314" cy="77314"/>
            <a:chOff x="0" y="0"/>
            <a:chExt cx="57150" cy="571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209"/>
                    <a:pt x="2159" y="17653"/>
                  </a:cubicBezTo>
                  <a:cubicBezTo>
                    <a:pt x="3556" y="14097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343919" y="4312385"/>
            <a:ext cx="77314" cy="77314"/>
            <a:chOff x="0" y="0"/>
            <a:chExt cx="57150" cy="571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209"/>
                    <a:pt x="2159" y="17653"/>
                  </a:cubicBezTo>
                  <a:cubicBezTo>
                    <a:pt x="3556" y="14097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343919" y="5974628"/>
            <a:ext cx="77314" cy="77314"/>
            <a:chOff x="0" y="0"/>
            <a:chExt cx="57150" cy="571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209"/>
                    <a:pt x="2159" y="17653"/>
                  </a:cubicBezTo>
                  <a:cubicBezTo>
                    <a:pt x="3556" y="14097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B354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343919" y="7636870"/>
            <a:ext cx="77314" cy="77314"/>
            <a:chOff x="0" y="0"/>
            <a:chExt cx="57150" cy="571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209"/>
                    <a:pt x="2159" y="17653"/>
                  </a:cubicBezTo>
                  <a:cubicBezTo>
                    <a:pt x="3556" y="14097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62391" y="711391"/>
            <a:ext cx="8639795" cy="76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2"/>
              </a:lnSpc>
            </a:pPr>
            <a:r>
              <a:rPr lang="en-US" sz="4565" spc="68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Regional Performance Highlights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89408" y="2065621"/>
            <a:ext cx="4098510" cy="732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b="true" sz="1939" spc="-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U.S. Market:</a:t>
            </a:r>
            <a:r>
              <a:rPr lang="en-US" sz="1939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Led overall growth with strong comparable sales and a substantial digital contribution, adding ~520 basis points to comparable sales.</a:t>
            </a:r>
          </a:p>
          <a:p>
            <a:pPr algn="l">
              <a:lnSpc>
                <a:spcPts val="4667"/>
              </a:lnSpc>
            </a:pPr>
            <a:r>
              <a:rPr lang="en-US" b="true" sz="1939" spc="-3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International Markets:</a:t>
            </a:r>
            <a:r>
              <a:rPr lang="en-US" sz="1939" spc="-3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Presented a </a:t>
            </a:r>
          </a:p>
          <a:p>
            <a:pPr algn="l">
              <a:lnSpc>
                <a:spcPts val="1420"/>
              </a:lnSpc>
            </a:pPr>
            <a:r>
              <a:rPr lang="en-US" sz="1939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mixed landscape. Robust growth was </a:t>
            </a:r>
          </a:p>
          <a:p>
            <a:pPr algn="l">
              <a:lnSpc>
                <a:spcPts val="4849"/>
              </a:lnSpc>
            </a:pPr>
            <a:r>
              <a:rPr lang="en-US" sz="1939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observed in India (driven by Flipkart) </a:t>
            </a:r>
          </a:p>
          <a:p>
            <a:pPr algn="l">
              <a:lnSpc>
                <a:spcPts val="1237"/>
              </a:lnSpc>
            </a:pPr>
            <a:r>
              <a:rPr lang="en-US" sz="1939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 Mexico.</a:t>
            </a:r>
          </a:p>
          <a:p>
            <a:pPr algn="l">
              <a:lnSpc>
                <a:spcPts val="4849"/>
              </a:lnSpc>
            </a:pPr>
            <a:r>
              <a:rPr lang="en-US" sz="1939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Conversely, markets like China and </a:t>
            </a:r>
          </a:p>
          <a:p>
            <a:pPr algn="l">
              <a:lnSpc>
                <a:spcPts val="1237"/>
              </a:lnSpc>
            </a:pPr>
            <a:r>
              <a:rPr lang="en-US" sz="1939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Canada required strategic </a:t>
            </a:r>
          </a:p>
          <a:p>
            <a:pPr algn="l">
              <a:lnSpc>
                <a:spcPts val="4849"/>
              </a:lnSpc>
            </a:pPr>
            <a:r>
              <a:rPr lang="en-US" sz="1939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adjustments to their operational </a:t>
            </a:r>
          </a:p>
          <a:p>
            <a:pPr algn="l">
              <a:lnSpc>
                <a:spcPts val="1237"/>
              </a:lnSpc>
            </a:pPr>
            <a:r>
              <a:rPr lang="en-US" sz="1939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formats.</a:t>
            </a:r>
          </a:p>
          <a:p>
            <a:pPr algn="l">
              <a:lnSpc>
                <a:spcPts val="4849"/>
              </a:lnSpc>
            </a:pPr>
            <a:r>
              <a:rPr lang="en-US" b="true" sz="1939" spc="-3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Sam9s Club U.S.:</a:t>
            </a:r>
            <a:r>
              <a:rPr lang="en-US" sz="1939" spc="-3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Successfully </a:t>
            </a:r>
          </a:p>
          <a:p>
            <a:pPr algn="l">
              <a:lnSpc>
                <a:spcPts val="1237"/>
              </a:lnSpc>
            </a:pPr>
            <a:r>
              <a:rPr lang="en-US" sz="1939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expanded its membership base and </a:t>
            </a:r>
          </a:p>
          <a:p>
            <a:pPr algn="l">
              <a:lnSpc>
                <a:spcPts val="4849"/>
              </a:lnSpc>
            </a:pPr>
            <a:r>
              <a:rPr lang="en-US" sz="1939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further strengthened its omnichannel </a:t>
            </a:r>
          </a:p>
          <a:p>
            <a:pPr algn="l">
              <a:lnSpc>
                <a:spcPts val="1237"/>
              </a:lnSpc>
            </a:pPr>
            <a:r>
              <a:rPr lang="en-US" sz="1939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sales presence, ensuring consistent </a:t>
            </a:r>
          </a:p>
          <a:p>
            <a:pPr algn="l">
              <a:lnSpc>
                <a:spcPts val="4849"/>
              </a:lnSpc>
            </a:pPr>
            <a:r>
              <a:rPr lang="en-US" sz="1939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performance.</a:t>
            </a:r>
          </a:p>
        </p:txBody>
      </p:sp>
    </p:spTree>
  </p:cSld>
  <p:clrMapOvr>
    <a:masterClrMapping/>
  </p:clrMapOvr>
  <p:transition spd="fast">
    <p:circl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18260082" cy="10286513"/>
            <a:chOff x="0" y="0"/>
            <a:chExt cx="15240000" cy="858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2" r="0" b="-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59" y="411"/>
            <a:ext cx="18260082" cy="10286102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959" y="1"/>
            <a:ext cx="18260082" cy="10286513"/>
            <a:chOff x="0" y="0"/>
            <a:chExt cx="11430000" cy="643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</a:blip>
              <a:stretch>
                <a:fillRect l="-297" t="0" r="-29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26510" y="411"/>
            <a:ext cx="6847531" cy="10286102"/>
            <a:chOff x="0" y="0"/>
            <a:chExt cx="5715000" cy="85848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" t="-3" r="-2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4347" y="4017218"/>
            <a:ext cx="91300" cy="91300"/>
            <a:chOff x="0" y="0"/>
            <a:chExt cx="57150" cy="57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4347" y="5523675"/>
            <a:ext cx="91300" cy="91300"/>
            <a:chOff x="0" y="0"/>
            <a:chExt cx="5715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4347" y="6558413"/>
            <a:ext cx="91300" cy="91300"/>
            <a:chOff x="0" y="0"/>
            <a:chExt cx="5715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32521" y="2911789"/>
            <a:ext cx="7863723" cy="46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5391" spc="8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Seasonal Sales Patterns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52841" y="3596024"/>
            <a:ext cx="70332" cy="63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7"/>
              </a:lnSpc>
            </a:pPr>
            <a:r>
              <a:rPr lang="en-US" b="true" sz="2290" spc="-36">
                <a:solidFill>
                  <a:srgbClr val="2B354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7834" y="3782157"/>
            <a:ext cx="8865498" cy="45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Q4 FY26Surge:</a:t>
            </a: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Revenue soaredto</a:t>
            </a: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$190.7billion</a:t>
            </a: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(up</a:t>
            </a: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5.6%</a:t>
            </a: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), reflecting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7819" y="4253876"/>
            <a:ext cx="9149975" cy="344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robust demand during the holiday season and effective promotional strategies.</a:t>
            </a:r>
          </a:p>
          <a:p>
            <a:pPr algn="l">
              <a:lnSpc>
                <a:spcPts val="5152"/>
              </a:lnSpc>
            </a:pP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Flipkart's Impact:</a:t>
            </a: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 Big Billion Days event significantly influenced </a:t>
            </a:r>
          </a:p>
          <a:p>
            <a:pPr algn="l">
              <a:lnSpc>
                <a:spcPts val="2036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international revenue timing, creating notable sales spikes in </a:t>
            </a: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Q3/Q4</a:t>
            </a:r>
          </a:p>
          <a:p>
            <a:pPr algn="l">
              <a:lnSpc>
                <a:spcPts val="5727"/>
              </a:lnSpc>
            </a:pP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Membership Boost:</a:t>
            </a: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Global membership fee income experienced a </a:t>
            </a:r>
          </a:p>
          <a:p>
            <a:pPr algn="l">
              <a:lnSpc>
                <a:spcPts val="1461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healthy </a:t>
            </a:r>
            <a:r>
              <a:rPr lang="en-US" b="true" sz="2290" spc="-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15.1%</a:t>
            </a: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growth, primarily driven by seasonal promotions and </a:t>
            </a:r>
          </a:p>
          <a:p>
            <a:pPr algn="l">
              <a:lnSpc>
                <a:spcPts val="5727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new sign-ups.</a:t>
            </a:r>
          </a:p>
        </p:txBody>
      </p:sp>
    </p:spTree>
  </p:cSld>
  <p:clrMapOvr>
    <a:masterClrMapping/>
  </p:clrMapOvr>
  <p:transition spd="fast">
    <p:circl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245" y="66743"/>
            <a:ext cx="12110902" cy="10152973"/>
            <a:chOff x="0" y="0"/>
            <a:chExt cx="11430000" cy="9582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9582150"/>
            </a:xfrm>
            <a:custGeom>
              <a:avLst/>
              <a:gdLst/>
              <a:ahLst/>
              <a:cxnLst/>
              <a:rect r="r" b="b" t="t" l="l"/>
              <a:pathLst>
                <a:path h="9582150" w="11430000">
                  <a:moveTo>
                    <a:pt x="0" y="9582150"/>
                  </a:moveTo>
                  <a:lnTo>
                    <a:pt x="11430000" y="95821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1245" y="66740"/>
            <a:ext cx="12110902" cy="10153508"/>
            <a:chOff x="0" y="0"/>
            <a:chExt cx="15240000" cy="127768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12776835"/>
            </a:xfrm>
            <a:custGeom>
              <a:avLst/>
              <a:gdLst/>
              <a:ahLst/>
              <a:cxnLst/>
              <a:rect r="r" b="b" t="t" l="l"/>
              <a:pathLst>
                <a:path h="12776835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12776835"/>
                  </a:lnTo>
                  <a:lnTo>
                    <a:pt x="0" y="12776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959" y="0"/>
            <a:ext cx="12245464" cy="10287000"/>
          </a:xfrm>
          <a:custGeom>
            <a:avLst/>
            <a:gdLst/>
            <a:ahLst/>
            <a:cxnLst/>
            <a:rect r="r" b="b" t="t" l="l"/>
            <a:pathLst>
              <a:path h="10287000" w="12245464">
                <a:moveTo>
                  <a:pt x="0" y="0"/>
                </a:moveTo>
                <a:lnTo>
                  <a:pt x="12245464" y="0"/>
                </a:lnTo>
                <a:lnTo>
                  <a:pt x="1224546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192147" y="0"/>
            <a:ext cx="6081894" cy="10219715"/>
          </a:xfrm>
          <a:custGeom>
            <a:avLst/>
            <a:gdLst/>
            <a:ahLst/>
            <a:cxnLst/>
            <a:rect r="r" b="b" t="t" l="l"/>
            <a:pathLst>
              <a:path h="10219715" w="6081894">
                <a:moveTo>
                  <a:pt x="0" y="0"/>
                </a:moveTo>
                <a:lnTo>
                  <a:pt x="6081894" y="0"/>
                </a:lnTo>
                <a:lnTo>
                  <a:pt x="6081894" y="10219715"/>
                </a:lnTo>
                <a:lnTo>
                  <a:pt x="0" y="102197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</a:blip>
            <a:stretch>
              <a:fillRect l="-154465" t="0" r="-4559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56801" y="871432"/>
            <a:ext cx="9185362" cy="29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8"/>
              </a:lnSpc>
            </a:pPr>
            <a:r>
              <a:rPr lang="en-US" b="true" sz="3576" spc="53">
                <a:solidFill>
                  <a:srgbClr val="051D3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Insights from Product Performance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0360" y="1407824"/>
            <a:ext cx="48615" cy="414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6801" y="1560224"/>
            <a:ext cx="9718343" cy="26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Analyzing</a:t>
            </a:r>
            <a:r>
              <a:rPr lang="en-US" sz="1519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</a:t>
            </a:r>
            <a:r>
              <a:rPr lang="en-US" sz="1519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detailed</a:t>
            </a:r>
            <a:r>
              <a:rPr lang="en-US" sz="1519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product</a:t>
            </a:r>
            <a:r>
              <a:rPr lang="en-US" sz="1519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performance</a:t>
            </a:r>
            <a:r>
              <a:rPr lang="en-US" sz="1519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charts</a:t>
            </a:r>
            <a:r>
              <a:rPr lang="en-US" sz="1519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reveals</a:t>
            </a:r>
            <a:r>
              <a:rPr lang="en-US" sz="1519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critical</a:t>
            </a:r>
            <a:r>
              <a:rPr lang="en-US" sz="1519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trends</a:t>
            </a:r>
            <a:r>
              <a:rPr lang="en-US" sz="1519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driving</a:t>
            </a:r>
            <a:r>
              <a:rPr lang="en-US" sz="1519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Walmart's</a:t>
            </a:r>
            <a:r>
              <a:rPr lang="en-US" sz="1519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success</a:t>
            </a:r>
            <a:r>
              <a:rPr lang="en-US" sz="1519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1519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profitability.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5417" y="8256037"/>
            <a:ext cx="10663609" cy="1401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1519" spc="-1">
                <a:solidFill>
                  <a:srgbClr val="2B354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Profitability Drivers: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 High-margin categories and digital sales channels are increasingly critical to overall profitability. </a:t>
            </a:r>
            <a:r>
              <a:rPr lang="en-US" b="true" sz="1519" spc="-1">
                <a:solidFill>
                  <a:srgbClr val="2B354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Efficient Operations: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 Improved inventory management strategies have successfully reduced holding costs, even amidst robust </a:t>
            </a:r>
          </a:p>
          <a:p>
            <a:pPr algn="l">
              <a:lnSpc>
                <a:spcPts val="1987"/>
              </a:lnSpc>
            </a:pP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sales growth.</a:t>
            </a:r>
          </a:p>
          <a:p>
            <a:pPr algn="l">
              <a:lnSpc>
                <a:spcPts val="3798"/>
              </a:lnSpc>
            </a:pPr>
            <a:r>
              <a:rPr lang="en-US" b="true" sz="1519" spc="-1">
                <a:solidFill>
                  <a:srgbClr val="2B354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Optimized Product Mix:</a:t>
            </a:r>
            <a:r>
              <a:rPr lang="en-US" sz="1519" spc="-1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 A strategic shift towards private label and exclusive brands continues to enhance overall margins.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9313" y="7671284"/>
            <a:ext cx="965188" cy="23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Smar</a:t>
            </a:r>
            <a:r>
              <a:rPr lang="en-US" b="true" sz="1337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tphone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30424" y="7671284"/>
            <a:ext cx="230410" cy="23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TV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45202" y="7671284"/>
            <a:ext cx="544769" cy="23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Laptop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47114" y="7642709"/>
            <a:ext cx="498111" cy="26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8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Fridge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80067" y="7642709"/>
            <a:ext cx="1215137" cy="26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8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Washing Mac&amp;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47449" y="7642709"/>
            <a:ext cx="1003479" cy="26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8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Headphones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05324" y="7911733"/>
            <a:ext cx="1120107" cy="26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8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Product Name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26311" y="7671284"/>
            <a:ext cx="618060" cy="23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Camera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72004" y="7671284"/>
            <a:ext cx="482559" cy="23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Tablet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40547" y="2054887"/>
            <a:ext cx="1102395" cy="397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20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Total Revenue 14k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47002" y="2818792"/>
            <a:ext cx="264442" cy="37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12k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47002" y="3560968"/>
            <a:ext cx="269528" cy="37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10k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47002" y="4303145"/>
            <a:ext cx="200355" cy="37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8k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47002" y="5045321"/>
            <a:ext cx="200435" cy="37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6k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247002" y="5787487"/>
            <a:ext cx="205007" cy="37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4k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47002" y="6529673"/>
            <a:ext cx="198074" cy="37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2k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47002" y="7271840"/>
            <a:ext cx="111925" cy="37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b="true" sz="1337">
                <a:solidFill>
                  <a:srgbClr val="2B3541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</a:p>
        </p:txBody>
      </p:sp>
    </p:spTree>
  </p:cSld>
  <p:clrMapOvr>
    <a:masterClrMapping/>
  </p:clrMapOvr>
  <p:transition spd="fast">
    <p:circl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18260082" cy="10286513"/>
            <a:chOff x="0" y="0"/>
            <a:chExt cx="15240000" cy="858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2" r="0" b="-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59" y="411"/>
            <a:ext cx="18260082" cy="10286102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87491" y="-101450"/>
            <a:ext cx="18462967" cy="10489398"/>
            <a:chOff x="0" y="0"/>
            <a:chExt cx="11557000" cy="6565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</a:blip>
              <a:stretch>
                <a:fillRect l="-297" t="0" r="-297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46201" y="2770577"/>
              <a:ext cx="263122" cy="436408"/>
            </a:xfrm>
            <a:custGeom>
              <a:avLst/>
              <a:gdLst/>
              <a:ahLst/>
              <a:cxnLst/>
              <a:rect r="r" b="b" t="t" l="l"/>
              <a:pathLst>
                <a:path h="436408" w="263122">
                  <a:moveTo>
                    <a:pt x="132588" y="412551"/>
                  </a:moveTo>
                  <a:cubicBezTo>
                    <a:pt x="146558" y="410773"/>
                    <a:pt x="161671" y="407852"/>
                    <a:pt x="171069" y="405439"/>
                  </a:cubicBezTo>
                  <a:lnTo>
                    <a:pt x="174117" y="417123"/>
                  </a:lnTo>
                  <a:lnTo>
                    <a:pt x="170053" y="405693"/>
                  </a:lnTo>
                  <a:cubicBezTo>
                    <a:pt x="179070" y="402518"/>
                    <a:pt x="188722" y="398073"/>
                    <a:pt x="196596" y="393628"/>
                  </a:cubicBezTo>
                  <a:lnTo>
                    <a:pt x="202565" y="404169"/>
                  </a:lnTo>
                  <a:lnTo>
                    <a:pt x="195707" y="394263"/>
                  </a:lnTo>
                  <a:cubicBezTo>
                    <a:pt x="204343" y="388294"/>
                    <a:pt x="211709" y="382071"/>
                    <a:pt x="219075" y="374578"/>
                  </a:cubicBezTo>
                  <a:lnTo>
                    <a:pt x="227711" y="383087"/>
                  </a:lnTo>
                  <a:lnTo>
                    <a:pt x="218313" y="375467"/>
                  </a:lnTo>
                  <a:cubicBezTo>
                    <a:pt x="224028" y="368482"/>
                    <a:pt x="228981" y="360989"/>
                    <a:pt x="232918" y="353496"/>
                  </a:cubicBezTo>
                  <a:lnTo>
                    <a:pt x="243586" y="359084"/>
                  </a:lnTo>
                  <a:lnTo>
                    <a:pt x="232283" y="354766"/>
                  </a:lnTo>
                  <a:cubicBezTo>
                    <a:pt x="235966" y="344987"/>
                    <a:pt x="238379" y="335589"/>
                    <a:pt x="239522" y="327080"/>
                  </a:cubicBezTo>
                  <a:lnTo>
                    <a:pt x="251460" y="328731"/>
                  </a:lnTo>
                  <a:lnTo>
                    <a:pt x="239395" y="328350"/>
                  </a:lnTo>
                  <a:cubicBezTo>
                    <a:pt x="239649" y="319714"/>
                    <a:pt x="239141" y="310316"/>
                    <a:pt x="237490" y="300791"/>
                  </a:cubicBezTo>
                  <a:lnTo>
                    <a:pt x="249428" y="298632"/>
                  </a:lnTo>
                  <a:lnTo>
                    <a:pt x="237871" y="302188"/>
                  </a:lnTo>
                  <a:cubicBezTo>
                    <a:pt x="235331" y="294060"/>
                    <a:pt x="232537" y="287583"/>
                    <a:pt x="227584" y="278947"/>
                  </a:cubicBezTo>
                  <a:lnTo>
                    <a:pt x="238125" y="272851"/>
                  </a:lnTo>
                  <a:lnTo>
                    <a:pt x="228473" y="280090"/>
                  </a:lnTo>
                  <a:cubicBezTo>
                    <a:pt x="222631" y="272216"/>
                    <a:pt x="216027" y="265358"/>
                    <a:pt x="208661" y="259262"/>
                  </a:cubicBezTo>
                  <a:lnTo>
                    <a:pt x="216408" y="249991"/>
                  </a:lnTo>
                  <a:lnTo>
                    <a:pt x="209550" y="259897"/>
                  </a:lnTo>
                  <a:cubicBezTo>
                    <a:pt x="202311" y="254817"/>
                    <a:pt x="194945" y="250626"/>
                    <a:pt x="186563" y="246689"/>
                  </a:cubicBezTo>
                  <a:lnTo>
                    <a:pt x="191770" y="235767"/>
                  </a:lnTo>
                  <a:lnTo>
                    <a:pt x="187198" y="246943"/>
                  </a:lnTo>
                  <a:cubicBezTo>
                    <a:pt x="175514" y="242244"/>
                    <a:pt x="159893" y="236529"/>
                    <a:pt x="142494" y="230941"/>
                  </a:cubicBezTo>
                  <a:lnTo>
                    <a:pt x="146177" y="219384"/>
                  </a:lnTo>
                  <a:lnTo>
                    <a:pt x="143129" y="231068"/>
                  </a:lnTo>
                  <a:cubicBezTo>
                    <a:pt x="115570" y="223956"/>
                    <a:pt x="97536" y="218495"/>
                    <a:pt x="78613" y="211383"/>
                  </a:cubicBezTo>
                  <a:cubicBezTo>
                    <a:pt x="78359" y="211256"/>
                    <a:pt x="77978" y="211129"/>
                    <a:pt x="77724" y="211002"/>
                  </a:cubicBezTo>
                  <a:cubicBezTo>
                    <a:pt x="58928" y="202239"/>
                    <a:pt x="50419" y="197413"/>
                    <a:pt x="42037" y="191698"/>
                  </a:cubicBezTo>
                  <a:cubicBezTo>
                    <a:pt x="41783" y="191571"/>
                    <a:pt x="41529" y="191317"/>
                    <a:pt x="41402" y="191190"/>
                  </a:cubicBezTo>
                  <a:cubicBezTo>
                    <a:pt x="33147" y="184713"/>
                    <a:pt x="27305" y="179252"/>
                    <a:pt x="21844" y="173283"/>
                  </a:cubicBezTo>
                  <a:cubicBezTo>
                    <a:pt x="21590" y="173029"/>
                    <a:pt x="21336" y="172648"/>
                    <a:pt x="21082" y="172394"/>
                  </a:cubicBezTo>
                  <a:cubicBezTo>
                    <a:pt x="14732" y="163758"/>
                    <a:pt x="11303" y="157916"/>
                    <a:pt x="7112" y="149280"/>
                  </a:cubicBezTo>
                  <a:cubicBezTo>
                    <a:pt x="6858" y="148772"/>
                    <a:pt x="6731" y="148264"/>
                    <a:pt x="6477" y="147756"/>
                  </a:cubicBezTo>
                  <a:cubicBezTo>
                    <a:pt x="2794" y="136326"/>
                    <a:pt x="381" y="122229"/>
                    <a:pt x="0" y="110799"/>
                  </a:cubicBezTo>
                  <a:cubicBezTo>
                    <a:pt x="0" y="110164"/>
                    <a:pt x="0" y="109656"/>
                    <a:pt x="0" y="109021"/>
                  </a:cubicBezTo>
                  <a:cubicBezTo>
                    <a:pt x="1397" y="94924"/>
                    <a:pt x="4826" y="81081"/>
                    <a:pt x="9525" y="68889"/>
                  </a:cubicBezTo>
                  <a:cubicBezTo>
                    <a:pt x="9652" y="68381"/>
                    <a:pt x="9906" y="68000"/>
                    <a:pt x="10160" y="67492"/>
                  </a:cubicBezTo>
                  <a:cubicBezTo>
                    <a:pt x="17399" y="54157"/>
                    <a:pt x="25400" y="43108"/>
                    <a:pt x="33401" y="34853"/>
                  </a:cubicBezTo>
                  <a:cubicBezTo>
                    <a:pt x="33782" y="34472"/>
                    <a:pt x="34163" y="34091"/>
                    <a:pt x="34544" y="33837"/>
                  </a:cubicBezTo>
                  <a:cubicBezTo>
                    <a:pt x="45593" y="25074"/>
                    <a:pt x="56642" y="17962"/>
                    <a:pt x="67818" y="12501"/>
                  </a:cubicBezTo>
                  <a:cubicBezTo>
                    <a:pt x="68199" y="12247"/>
                    <a:pt x="68580" y="12120"/>
                    <a:pt x="69088" y="11993"/>
                  </a:cubicBezTo>
                  <a:cubicBezTo>
                    <a:pt x="82931" y="7040"/>
                    <a:pt x="96647" y="3611"/>
                    <a:pt x="107950" y="1960"/>
                  </a:cubicBezTo>
                  <a:cubicBezTo>
                    <a:pt x="108204" y="1960"/>
                    <a:pt x="108458" y="1960"/>
                    <a:pt x="108585" y="1833"/>
                  </a:cubicBezTo>
                  <a:lnTo>
                    <a:pt x="127508" y="55"/>
                  </a:lnTo>
                  <a:cubicBezTo>
                    <a:pt x="134112" y="-580"/>
                    <a:pt x="140081" y="4373"/>
                    <a:pt x="140716" y="10977"/>
                  </a:cubicBezTo>
                  <a:cubicBezTo>
                    <a:pt x="141351" y="17581"/>
                    <a:pt x="136398" y="23550"/>
                    <a:pt x="129794" y="24185"/>
                  </a:cubicBezTo>
                  <a:lnTo>
                    <a:pt x="110871" y="25963"/>
                  </a:lnTo>
                  <a:lnTo>
                    <a:pt x="109728" y="13898"/>
                  </a:lnTo>
                  <a:lnTo>
                    <a:pt x="111506" y="25836"/>
                  </a:lnTo>
                  <a:cubicBezTo>
                    <a:pt x="101854" y="27233"/>
                    <a:pt x="89662" y="30281"/>
                    <a:pt x="77216" y="34726"/>
                  </a:cubicBezTo>
                  <a:lnTo>
                    <a:pt x="73152" y="23296"/>
                  </a:lnTo>
                  <a:lnTo>
                    <a:pt x="78486" y="34218"/>
                  </a:lnTo>
                  <a:cubicBezTo>
                    <a:pt x="68961" y="38917"/>
                    <a:pt x="59309" y="44886"/>
                    <a:pt x="49657" y="52633"/>
                  </a:cubicBezTo>
                  <a:lnTo>
                    <a:pt x="42037" y="43235"/>
                  </a:lnTo>
                  <a:lnTo>
                    <a:pt x="50800" y="51617"/>
                  </a:lnTo>
                  <a:cubicBezTo>
                    <a:pt x="44450" y="58221"/>
                    <a:pt x="37592" y="67365"/>
                    <a:pt x="31369" y="79049"/>
                  </a:cubicBezTo>
                  <a:lnTo>
                    <a:pt x="20701" y="73334"/>
                  </a:lnTo>
                  <a:lnTo>
                    <a:pt x="32004" y="77652"/>
                  </a:lnTo>
                  <a:cubicBezTo>
                    <a:pt x="28067" y="87812"/>
                    <a:pt x="25146" y="99623"/>
                    <a:pt x="23876" y="111561"/>
                  </a:cubicBezTo>
                  <a:lnTo>
                    <a:pt x="11811" y="110291"/>
                  </a:lnTo>
                  <a:lnTo>
                    <a:pt x="23876" y="109783"/>
                  </a:lnTo>
                  <a:cubicBezTo>
                    <a:pt x="24257" y="119054"/>
                    <a:pt x="26289" y="130992"/>
                    <a:pt x="29210" y="140390"/>
                  </a:cubicBezTo>
                  <a:lnTo>
                    <a:pt x="17653" y="144073"/>
                  </a:lnTo>
                  <a:lnTo>
                    <a:pt x="28575" y="138866"/>
                  </a:lnTo>
                  <a:cubicBezTo>
                    <a:pt x="31877" y="145978"/>
                    <a:pt x="34671" y="150550"/>
                    <a:pt x="40132" y="158043"/>
                  </a:cubicBezTo>
                  <a:lnTo>
                    <a:pt x="30353" y="165155"/>
                  </a:lnTo>
                  <a:lnTo>
                    <a:pt x="39370" y="157027"/>
                  </a:lnTo>
                  <a:cubicBezTo>
                    <a:pt x="43561" y="161726"/>
                    <a:pt x="48387" y="166171"/>
                    <a:pt x="55880" y="172140"/>
                  </a:cubicBezTo>
                  <a:lnTo>
                    <a:pt x="48387" y="181665"/>
                  </a:lnTo>
                  <a:lnTo>
                    <a:pt x="55245" y="171632"/>
                  </a:lnTo>
                  <a:cubicBezTo>
                    <a:pt x="62230" y="176331"/>
                    <a:pt x="69469" y="180649"/>
                    <a:pt x="87503" y="189031"/>
                  </a:cubicBezTo>
                  <a:lnTo>
                    <a:pt x="82423" y="199953"/>
                  </a:lnTo>
                  <a:lnTo>
                    <a:pt x="86614" y="188650"/>
                  </a:lnTo>
                  <a:cubicBezTo>
                    <a:pt x="104521" y="195381"/>
                    <a:pt x="121666" y="200588"/>
                    <a:pt x="148717" y="207573"/>
                  </a:cubicBezTo>
                  <a:cubicBezTo>
                    <a:pt x="148971" y="207573"/>
                    <a:pt x="149225" y="207700"/>
                    <a:pt x="149352" y="207827"/>
                  </a:cubicBezTo>
                  <a:cubicBezTo>
                    <a:pt x="167386" y="213542"/>
                    <a:pt x="183515" y="219511"/>
                    <a:pt x="195834" y="224464"/>
                  </a:cubicBezTo>
                  <a:cubicBezTo>
                    <a:pt x="196088" y="224591"/>
                    <a:pt x="196215" y="224591"/>
                    <a:pt x="196469" y="224718"/>
                  </a:cubicBezTo>
                  <a:cubicBezTo>
                    <a:pt x="205994" y="229163"/>
                    <a:pt x="214376" y="233989"/>
                    <a:pt x="222758" y="239831"/>
                  </a:cubicBezTo>
                  <a:cubicBezTo>
                    <a:pt x="223139" y="240085"/>
                    <a:pt x="223393" y="240339"/>
                    <a:pt x="223647" y="240593"/>
                  </a:cubicBezTo>
                  <a:cubicBezTo>
                    <a:pt x="232410" y="247959"/>
                    <a:pt x="240157" y="256087"/>
                    <a:pt x="247142" y="265485"/>
                  </a:cubicBezTo>
                  <a:cubicBezTo>
                    <a:pt x="247396" y="265866"/>
                    <a:pt x="247650" y="266247"/>
                    <a:pt x="247904" y="266755"/>
                  </a:cubicBezTo>
                  <a:cubicBezTo>
                    <a:pt x="253746" y="276788"/>
                    <a:pt x="257302" y="284916"/>
                    <a:pt x="260350" y="294949"/>
                  </a:cubicBezTo>
                  <a:cubicBezTo>
                    <a:pt x="260477" y="295457"/>
                    <a:pt x="260604" y="295838"/>
                    <a:pt x="260731" y="296346"/>
                  </a:cubicBezTo>
                  <a:cubicBezTo>
                    <a:pt x="262763" y="307649"/>
                    <a:pt x="263398" y="318698"/>
                    <a:pt x="263017" y="328858"/>
                  </a:cubicBezTo>
                  <a:cubicBezTo>
                    <a:pt x="263017" y="329239"/>
                    <a:pt x="263017" y="329747"/>
                    <a:pt x="262890" y="330128"/>
                  </a:cubicBezTo>
                  <a:cubicBezTo>
                    <a:pt x="261493" y="340542"/>
                    <a:pt x="258572" y="351845"/>
                    <a:pt x="254381" y="363148"/>
                  </a:cubicBezTo>
                  <a:cubicBezTo>
                    <a:pt x="254254" y="363656"/>
                    <a:pt x="254000" y="364037"/>
                    <a:pt x="253746" y="364545"/>
                  </a:cubicBezTo>
                  <a:cubicBezTo>
                    <a:pt x="249047" y="373689"/>
                    <a:pt x="243078" y="382325"/>
                    <a:pt x="236601" y="390453"/>
                  </a:cubicBezTo>
                  <a:cubicBezTo>
                    <a:pt x="236347" y="390707"/>
                    <a:pt x="236093" y="391088"/>
                    <a:pt x="235839" y="391342"/>
                  </a:cubicBezTo>
                  <a:cubicBezTo>
                    <a:pt x="227457" y="399851"/>
                    <a:pt x="218821" y="407090"/>
                    <a:pt x="209042" y="413821"/>
                  </a:cubicBezTo>
                  <a:cubicBezTo>
                    <a:pt x="208788" y="414075"/>
                    <a:pt x="208407" y="414202"/>
                    <a:pt x="208153" y="414456"/>
                  </a:cubicBezTo>
                  <a:cubicBezTo>
                    <a:pt x="199009" y="419663"/>
                    <a:pt x="188087" y="424616"/>
                    <a:pt x="177800" y="428299"/>
                  </a:cubicBezTo>
                  <a:cubicBezTo>
                    <a:pt x="177546" y="428426"/>
                    <a:pt x="177165" y="428553"/>
                    <a:pt x="176784" y="428553"/>
                  </a:cubicBezTo>
                  <a:cubicBezTo>
                    <a:pt x="166116" y="431347"/>
                    <a:pt x="149860" y="434395"/>
                    <a:pt x="135255" y="436300"/>
                  </a:cubicBezTo>
                  <a:cubicBezTo>
                    <a:pt x="128651" y="437189"/>
                    <a:pt x="122555" y="432490"/>
                    <a:pt x="121666" y="425886"/>
                  </a:cubicBezTo>
                  <a:cubicBezTo>
                    <a:pt x="120777" y="419282"/>
                    <a:pt x="125476" y="413186"/>
                    <a:pt x="132080" y="412297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40153" y="3077512"/>
              <a:ext cx="147942" cy="129401"/>
            </a:xfrm>
            <a:custGeom>
              <a:avLst/>
              <a:gdLst/>
              <a:ahLst/>
              <a:cxnLst/>
              <a:rect r="r" b="b" t="t" l="l"/>
              <a:pathLst>
                <a:path h="129401" w="147942">
                  <a:moveTo>
                    <a:pt x="24082" y="10747"/>
                  </a:moveTo>
                  <a:cubicBezTo>
                    <a:pt x="24971" y="19129"/>
                    <a:pt x="28019" y="33226"/>
                    <a:pt x="31067" y="42751"/>
                  </a:cubicBezTo>
                  <a:lnTo>
                    <a:pt x="19510" y="46434"/>
                  </a:lnTo>
                  <a:lnTo>
                    <a:pt x="30559" y="41608"/>
                  </a:lnTo>
                  <a:cubicBezTo>
                    <a:pt x="34750" y="51006"/>
                    <a:pt x="38560" y="57737"/>
                    <a:pt x="45291" y="66754"/>
                  </a:cubicBezTo>
                  <a:lnTo>
                    <a:pt x="35512" y="73866"/>
                  </a:lnTo>
                  <a:lnTo>
                    <a:pt x="44402" y="65611"/>
                  </a:lnTo>
                  <a:cubicBezTo>
                    <a:pt x="51387" y="73231"/>
                    <a:pt x="58626" y="79708"/>
                    <a:pt x="65992" y="85423"/>
                  </a:cubicBezTo>
                  <a:lnTo>
                    <a:pt x="58753" y="95075"/>
                  </a:lnTo>
                  <a:lnTo>
                    <a:pt x="65103" y="84788"/>
                  </a:lnTo>
                  <a:cubicBezTo>
                    <a:pt x="73485" y="89995"/>
                    <a:pt x="83010" y="94694"/>
                    <a:pt x="92154" y="98123"/>
                  </a:cubicBezTo>
                  <a:lnTo>
                    <a:pt x="87963" y="109426"/>
                  </a:lnTo>
                  <a:lnTo>
                    <a:pt x="91265" y="97742"/>
                  </a:lnTo>
                  <a:cubicBezTo>
                    <a:pt x="101552" y="100663"/>
                    <a:pt x="113998" y="103203"/>
                    <a:pt x="123015" y="104346"/>
                  </a:cubicBezTo>
                  <a:lnTo>
                    <a:pt x="121364" y="116284"/>
                  </a:lnTo>
                  <a:lnTo>
                    <a:pt x="122253" y="104219"/>
                  </a:lnTo>
                  <a:lnTo>
                    <a:pt x="136731" y="105235"/>
                  </a:lnTo>
                  <a:cubicBezTo>
                    <a:pt x="143335" y="105743"/>
                    <a:pt x="148415" y="111458"/>
                    <a:pt x="147907" y="118189"/>
                  </a:cubicBezTo>
                  <a:cubicBezTo>
                    <a:pt x="147399" y="124920"/>
                    <a:pt x="141684" y="129873"/>
                    <a:pt x="134953" y="129365"/>
                  </a:cubicBezTo>
                  <a:lnTo>
                    <a:pt x="120475" y="128349"/>
                  </a:lnTo>
                  <a:cubicBezTo>
                    <a:pt x="120221" y="128349"/>
                    <a:pt x="119967" y="128349"/>
                    <a:pt x="119713" y="128222"/>
                  </a:cubicBezTo>
                  <a:cubicBezTo>
                    <a:pt x="109553" y="126825"/>
                    <a:pt x="96091" y="124158"/>
                    <a:pt x="84661" y="120983"/>
                  </a:cubicBezTo>
                  <a:cubicBezTo>
                    <a:pt x="84280" y="120856"/>
                    <a:pt x="84026" y="120729"/>
                    <a:pt x="83645" y="120729"/>
                  </a:cubicBezTo>
                  <a:cubicBezTo>
                    <a:pt x="72977" y="116792"/>
                    <a:pt x="62055" y="111458"/>
                    <a:pt x="52276" y="105362"/>
                  </a:cubicBezTo>
                  <a:cubicBezTo>
                    <a:pt x="52022" y="105108"/>
                    <a:pt x="51641" y="104981"/>
                    <a:pt x="51387" y="104727"/>
                  </a:cubicBezTo>
                  <a:cubicBezTo>
                    <a:pt x="42624" y="98123"/>
                    <a:pt x="34369" y="90503"/>
                    <a:pt x="26622" y="82121"/>
                  </a:cubicBezTo>
                  <a:cubicBezTo>
                    <a:pt x="26368" y="81740"/>
                    <a:pt x="25987" y="81486"/>
                    <a:pt x="25733" y="81105"/>
                  </a:cubicBezTo>
                  <a:cubicBezTo>
                    <a:pt x="18113" y="70818"/>
                    <a:pt x="13287" y="62563"/>
                    <a:pt x="8461" y="51387"/>
                  </a:cubicBezTo>
                  <a:cubicBezTo>
                    <a:pt x="8334" y="51006"/>
                    <a:pt x="8207" y="50625"/>
                    <a:pt x="8080" y="50244"/>
                  </a:cubicBezTo>
                  <a:cubicBezTo>
                    <a:pt x="4524" y="39195"/>
                    <a:pt x="1222" y="23447"/>
                    <a:pt x="79" y="13414"/>
                  </a:cubicBezTo>
                  <a:cubicBezTo>
                    <a:pt x="-683" y="6810"/>
                    <a:pt x="4143" y="841"/>
                    <a:pt x="10747" y="79"/>
                  </a:cubicBezTo>
                  <a:cubicBezTo>
                    <a:pt x="17351" y="-683"/>
                    <a:pt x="23320" y="4143"/>
                    <a:pt x="24082" y="10747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64129" y="2771212"/>
              <a:ext cx="139087" cy="117336"/>
            </a:xfrm>
            <a:custGeom>
              <a:avLst/>
              <a:gdLst/>
              <a:ahLst/>
              <a:cxnLst/>
              <a:rect r="r" b="b" t="t" l="l"/>
              <a:pathLst>
                <a:path h="117336" w="139087">
                  <a:moveTo>
                    <a:pt x="114736" y="106989"/>
                  </a:moveTo>
                  <a:cubicBezTo>
                    <a:pt x="112450" y="94924"/>
                    <a:pt x="110037" y="86161"/>
                    <a:pt x="106989" y="77779"/>
                  </a:cubicBezTo>
                  <a:lnTo>
                    <a:pt x="118419" y="73715"/>
                  </a:lnTo>
                  <a:lnTo>
                    <a:pt x="107497" y="78922"/>
                  </a:lnTo>
                  <a:cubicBezTo>
                    <a:pt x="104195" y="71937"/>
                    <a:pt x="99623" y="64444"/>
                    <a:pt x="95051" y="58221"/>
                  </a:cubicBezTo>
                  <a:lnTo>
                    <a:pt x="104830" y="51109"/>
                  </a:lnTo>
                  <a:lnTo>
                    <a:pt x="95940" y="59364"/>
                  </a:lnTo>
                  <a:cubicBezTo>
                    <a:pt x="90606" y="53649"/>
                    <a:pt x="83748" y="47553"/>
                    <a:pt x="75874" y="41965"/>
                  </a:cubicBezTo>
                  <a:lnTo>
                    <a:pt x="82859" y="32059"/>
                  </a:lnTo>
                  <a:lnTo>
                    <a:pt x="76763" y="42473"/>
                  </a:lnTo>
                  <a:cubicBezTo>
                    <a:pt x="69270" y="38155"/>
                    <a:pt x="62285" y="34726"/>
                    <a:pt x="53014" y="31424"/>
                  </a:cubicBezTo>
                  <a:lnTo>
                    <a:pt x="57078" y="19994"/>
                  </a:lnTo>
                  <a:lnTo>
                    <a:pt x="53776" y="31678"/>
                  </a:lnTo>
                  <a:cubicBezTo>
                    <a:pt x="44378" y="29011"/>
                    <a:pt x="34472" y="26852"/>
                    <a:pt x="24439" y="25455"/>
                  </a:cubicBezTo>
                  <a:lnTo>
                    <a:pt x="26217" y="13517"/>
                  </a:lnTo>
                  <a:lnTo>
                    <a:pt x="25074" y="25582"/>
                  </a:lnTo>
                  <a:lnTo>
                    <a:pt x="10977" y="24185"/>
                  </a:lnTo>
                  <a:cubicBezTo>
                    <a:pt x="4373" y="23550"/>
                    <a:pt x="-580" y="17581"/>
                    <a:pt x="55" y="10977"/>
                  </a:cubicBezTo>
                  <a:cubicBezTo>
                    <a:pt x="690" y="4373"/>
                    <a:pt x="6659" y="-580"/>
                    <a:pt x="13263" y="55"/>
                  </a:cubicBezTo>
                  <a:lnTo>
                    <a:pt x="27360" y="1452"/>
                  </a:lnTo>
                  <a:cubicBezTo>
                    <a:pt x="27614" y="1452"/>
                    <a:pt x="27741" y="1452"/>
                    <a:pt x="27995" y="1579"/>
                  </a:cubicBezTo>
                  <a:cubicBezTo>
                    <a:pt x="39171" y="3230"/>
                    <a:pt x="50093" y="5516"/>
                    <a:pt x="60634" y="8564"/>
                  </a:cubicBezTo>
                  <a:cubicBezTo>
                    <a:pt x="60888" y="8691"/>
                    <a:pt x="61142" y="8691"/>
                    <a:pt x="61396" y="8818"/>
                  </a:cubicBezTo>
                  <a:cubicBezTo>
                    <a:pt x="72191" y="12628"/>
                    <a:pt x="80573" y="16692"/>
                    <a:pt x="89209" y="21772"/>
                  </a:cubicBezTo>
                  <a:cubicBezTo>
                    <a:pt x="89590" y="22026"/>
                    <a:pt x="89844" y="22153"/>
                    <a:pt x="90225" y="22407"/>
                  </a:cubicBezTo>
                  <a:cubicBezTo>
                    <a:pt x="99369" y="28884"/>
                    <a:pt x="107497" y="36123"/>
                    <a:pt x="113974" y="43108"/>
                  </a:cubicBezTo>
                  <a:cubicBezTo>
                    <a:pt x="114228" y="43489"/>
                    <a:pt x="114609" y="43870"/>
                    <a:pt x="114863" y="44251"/>
                  </a:cubicBezTo>
                  <a:cubicBezTo>
                    <a:pt x="120197" y="51490"/>
                    <a:pt x="125531" y="60253"/>
                    <a:pt x="129595" y="68889"/>
                  </a:cubicBezTo>
                  <a:cubicBezTo>
                    <a:pt x="129722" y="69270"/>
                    <a:pt x="129976" y="69651"/>
                    <a:pt x="130103" y="70032"/>
                  </a:cubicBezTo>
                  <a:cubicBezTo>
                    <a:pt x="133659" y="79811"/>
                    <a:pt x="136326" y="89844"/>
                    <a:pt x="138866" y="103052"/>
                  </a:cubicBezTo>
                  <a:cubicBezTo>
                    <a:pt x="140136" y="109656"/>
                    <a:pt x="135818" y="116006"/>
                    <a:pt x="129214" y="117149"/>
                  </a:cubicBezTo>
                  <a:cubicBezTo>
                    <a:pt x="122610" y="118292"/>
                    <a:pt x="116260" y="114101"/>
                    <a:pt x="115117" y="107497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4057" y="2985516"/>
              <a:ext cx="24130" cy="294005"/>
            </a:xfrm>
            <a:custGeom>
              <a:avLst/>
              <a:gdLst/>
              <a:ahLst/>
              <a:cxnLst/>
              <a:rect r="r" b="b" t="t" l="l"/>
              <a:pathLst>
                <a:path h="294005" w="24130">
                  <a:moveTo>
                    <a:pt x="24130" y="12065"/>
                  </a:moveTo>
                  <a:lnTo>
                    <a:pt x="24130" y="281940"/>
                  </a:lnTo>
                  <a:cubicBezTo>
                    <a:pt x="24130" y="288671"/>
                    <a:pt x="18669" y="294005"/>
                    <a:pt x="12065" y="294005"/>
                  </a:cubicBezTo>
                  <a:cubicBezTo>
                    <a:pt x="5461" y="294005"/>
                    <a:pt x="0" y="288544"/>
                    <a:pt x="0" y="281940"/>
                  </a:cubicBezTo>
                  <a:lnTo>
                    <a:pt x="0" y="12065"/>
                  </a:lnTo>
                  <a:cubicBezTo>
                    <a:pt x="0" y="5334"/>
                    <a:pt x="5461" y="0"/>
                    <a:pt x="12065" y="0"/>
                  </a:cubicBezTo>
                  <a:cubicBezTo>
                    <a:pt x="18669" y="0"/>
                    <a:pt x="24130" y="5461"/>
                    <a:pt x="24130" y="12065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963930" y="2708910"/>
              <a:ext cx="24130" cy="300736"/>
            </a:xfrm>
            <a:custGeom>
              <a:avLst/>
              <a:gdLst/>
              <a:ahLst/>
              <a:cxnLst/>
              <a:rect r="r" b="b" t="t" l="l"/>
              <a:pathLst>
                <a:path h="300736" w="24130">
                  <a:moveTo>
                    <a:pt x="0" y="288671"/>
                  </a:moveTo>
                  <a:lnTo>
                    <a:pt x="0" y="12065"/>
                  </a:lnTo>
                  <a:cubicBezTo>
                    <a:pt x="0" y="5334"/>
                    <a:pt x="5461" y="0"/>
                    <a:pt x="12065" y="0"/>
                  </a:cubicBezTo>
                  <a:cubicBezTo>
                    <a:pt x="18669" y="0"/>
                    <a:pt x="24130" y="5461"/>
                    <a:pt x="24130" y="12065"/>
                  </a:cubicBezTo>
                  <a:lnTo>
                    <a:pt x="24130" y="288671"/>
                  </a:lnTo>
                  <a:cubicBezTo>
                    <a:pt x="24130" y="295402"/>
                    <a:pt x="18669" y="300736"/>
                    <a:pt x="12065" y="300736"/>
                  </a:cubicBezTo>
                  <a:cubicBezTo>
                    <a:pt x="5461" y="300736"/>
                    <a:pt x="0" y="295275"/>
                    <a:pt x="0" y="288671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146850" y="3010581"/>
              <a:ext cx="194264" cy="104339"/>
            </a:xfrm>
            <a:custGeom>
              <a:avLst/>
              <a:gdLst/>
              <a:ahLst/>
              <a:cxnLst/>
              <a:rect r="r" b="b" t="t" l="l"/>
              <a:pathLst>
                <a:path h="104339" w="194264">
                  <a:moveTo>
                    <a:pt x="194264" y="12781"/>
                  </a:moveTo>
                  <a:cubicBezTo>
                    <a:pt x="194137" y="21798"/>
                    <a:pt x="192994" y="29926"/>
                    <a:pt x="190200" y="40086"/>
                  </a:cubicBezTo>
                  <a:cubicBezTo>
                    <a:pt x="190073" y="40467"/>
                    <a:pt x="189946" y="40975"/>
                    <a:pt x="189819" y="41356"/>
                  </a:cubicBezTo>
                  <a:cubicBezTo>
                    <a:pt x="186771" y="49103"/>
                    <a:pt x="182834" y="56596"/>
                    <a:pt x="177754" y="64216"/>
                  </a:cubicBezTo>
                  <a:cubicBezTo>
                    <a:pt x="177500" y="64597"/>
                    <a:pt x="177246" y="64978"/>
                    <a:pt x="176992" y="65232"/>
                  </a:cubicBezTo>
                  <a:cubicBezTo>
                    <a:pt x="170769" y="72725"/>
                    <a:pt x="165816" y="77678"/>
                    <a:pt x="160609" y="82123"/>
                  </a:cubicBezTo>
                  <a:cubicBezTo>
                    <a:pt x="160355" y="82377"/>
                    <a:pt x="160101" y="82631"/>
                    <a:pt x="159720" y="82758"/>
                  </a:cubicBezTo>
                  <a:cubicBezTo>
                    <a:pt x="151846" y="88473"/>
                    <a:pt x="144353" y="92918"/>
                    <a:pt x="134574" y="97363"/>
                  </a:cubicBezTo>
                  <a:cubicBezTo>
                    <a:pt x="134193" y="97490"/>
                    <a:pt x="133812" y="97617"/>
                    <a:pt x="133431" y="97744"/>
                  </a:cubicBezTo>
                  <a:cubicBezTo>
                    <a:pt x="125938" y="100411"/>
                    <a:pt x="115905" y="102824"/>
                    <a:pt x="108285" y="103967"/>
                  </a:cubicBezTo>
                  <a:cubicBezTo>
                    <a:pt x="107904" y="103967"/>
                    <a:pt x="107523" y="104094"/>
                    <a:pt x="107142" y="104094"/>
                  </a:cubicBezTo>
                  <a:cubicBezTo>
                    <a:pt x="97363" y="104602"/>
                    <a:pt x="89743" y="104348"/>
                    <a:pt x="79964" y="103078"/>
                  </a:cubicBezTo>
                  <a:cubicBezTo>
                    <a:pt x="79583" y="103078"/>
                    <a:pt x="79075" y="102951"/>
                    <a:pt x="78694" y="102824"/>
                  </a:cubicBezTo>
                  <a:cubicBezTo>
                    <a:pt x="68788" y="100538"/>
                    <a:pt x="61295" y="97871"/>
                    <a:pt x="53675" y="94442"/>
                  </a:cubicBezTo>
                  <a:cubicBezTo>
                    <a:pt x="53294" y="94315"/>
                    <a:pt x="53040" y="94061"/>
                    <a:pt x="52659" y="93934"/>
                  </a:cubicBezTo>
                  <a:cubicBezTo>
                    <a:pt x="45166" y="89616"/>
                    <a:pt x="37927" y="84663"/>
                    <a:pt x="30688" y="78567"/>
                  </a:cubicBezTo>
                  <a:cubicBezTo>
                    <a:pt x="30434" y="78313"/>
                    <a:pt x="30053" y="78059"/>
                    <a:pt x="29799" y="77805"/>
                  </a:cubicBezTo>
                  <a:cubicBezTo>
                    <a:pt x="23068" y="70947"/>
                    <a:pt x="17099" y="63454"/>
                    <a:pt x="12019" y="55707"/>
                  </a:cubicBezTo>
                  <a:cubicBezTo>
                    <a:pt x="11765" y="55326"/>
                    <a:pt x="11638" y="54945"/>
                    <a:pt x="11384" y="54691"/>
                  </a:cubicBezTo>
                  <a:cubicBezTo>
                    <a:pt x="7574" y="47071"/>
                    <a:pt x="4526" y="39578"/>
                    <a:pt x="2494" y="32085"/>
                  </a:cubicBezTo>
                  <a:cubicBezTo>
                    <a:pt x="2367" y="31450"/>
                    <a:pt x="2240" y="30942"/>
                    <a:pt x="2113" y="30307"/>
                  </a:cubicBezTo>
                  <a:lnTo>
                    <a:pt x="81" y="13543"/>
                  </a:lnTo>
                  <a:cubicBezTo>
                    <a:pt x="-681" y="6939"/>
                    <a:pt x="4018" y="843"/>
                    <a:pt x="10622" y="81"/>
                  </a:cubicBezTo>
                  <a:cubicBezTo>
                    <a:pt x="17226" y="-681"/>
                    <a:pt x="23322" y="4018"/>
                    <a:pt x="24084" y="10622"/>
                  </a:cubicBezTo>
                  <a:lnTo>
                    <a:pt x="26116" y="27386"/>
                  </a:lnTo>
                  <a:lnTo>
                    <a:pt x="14178" y="28783"/>
                  </a:lnTo>
                  <a:lnTo>
                    <a:pt x="25862" y="25608"/>
                  </a:lnTo>
                  <a:cubicBezTo>
                    <a:pt x="27513" y="31450"/>
                    <a:pt x="29799" y="37419"/>
                    <a:pt x="32974" y="43642"/>
                  </a:cubicBezTo>
                  <a:lnTo>
                    <a:pt x="22179" y="49103"/>
                  </a:lnTo>
                  <a:lnTo>
                    <a:pt x="32339" y="42499"/>
                  </a:lnTo>
                  <a:cubicBezTo>
                    <a:pt x="36403" y="48849"/>
                    <a:pt x="41356" y="54945"/>
                    <a:pt x="47071" y="60787"/>
                  </a:cubicBezTo>
                  <a:lnTo>
                    <a:pt x="38435" y="69296"/>
                  </a:lnTo>
                  <a:lnTo>
                    <a:pt x="46182" y="60025"/>
                  </a:lnTo>
                  <a:cubicBezTo>
                    <a:pt x="52278" y="65105"/>
                    <a:pt x="58374" y="69296"/>
                    <a:pt x="64597" y="72852"/>
                  </a:cubicBezTo>
                  <a:lnTo>
                    <a:pt x="58628" y="83393"/>
                  </a:lnTo>
                  <a:lnTo>
                    <a:pt x="63581" y="72344"/>
                  </a:lnTo>
                  <a:cubicBezTo>
                    <a:pt x="69677" y="75138"/>
                    <a:pt x="75773" y="77170"/>
                    <a:pt x="84155" y="79202"/>
                  </a:cubicBezTo>
                  <a:lnTo>
                    <a:pt x="81361" y="91013"/>
                  </a:lnTo>
                  <a:lnTo>
                    <a:pt x="82885" y="79075"/>
                  </a:lnTo>
                  <a:cubicBezTo>
                    <a:pt x="91267" y="80218"/>
                    <a:pt x="97363" y="80345"/>
                    <a:pt x="105618" y="79964"/>
                  </a:cubicBezTo>
                  <a:lnTo>
                    <a:pt x="106253" y="92029"/>
                  </a:lnTo>
                  <a:lnTo>
                    <a:pt x="104475" y="80091"/>
                  </a:lnTo>
                  <a:cubicBezTo>
                    <a:pt x="110571" y="79202"/>
                    <a:pt x="119207" y="77043"/>
                    <a:pt x="125303" y="75011"/>
                  </a:cubicBezTo>
                  <a:lnTo>
                    <a:pt x="129240" y="86441"/>
                  </a:lnTo>
                  <a:lnTo>
                    <a:pt x="124160" y="75519"/>
                  </a:lnTo>
                  <a:cubicBezTo>
                    <a:pt x="132542" y="71582"/>
                    <a:pt x="138765" y="68026"/>
                    <a:pt x="145242" y="63327"/>
                  </a:cubicBezTo>
                  <a:lnTo>
                    <a:pt x="152354" y="73106"/>
                  </a:lnTo>
                  <a:lnTo>
                    <a:pt x="144480" y="63962"/>
                  </a:lnTo>
                  <a:cubicBezTo>
                    <a:pt x="148544" y="60406"/>
                    <a:pt x="152608" y="56342"/>
                    <a:pt x="158069" y="49865"/>
                  </a:cubicBezTo>
                  <a:lnTo>
                    <a:pt x="167340" y="57612"/>
                  </a:lnTo>
                  <a:lnTo>
                    <a:pt x="157307" y="51008"/>
                  </a:lnTo>
                  <a:cubicBezTo>
                    <a:pt x="161498" y="44658"/>
                    <a:pt x="164673" y="38562"/>
                    <a:pt x="167086" y="32466"/>
                  </a:cubicBezTo>
                  <a:lnTo>
                    <a:pt x="178262" y="36911"/>
                  </a:lnTo>
                  <a:lnTo>
                    <a:pt x="166578" y="33736"/>
                  </a:lnTo>
                  <a:cubicBezTo>
                    <a:pt x="168864" y="25481"/>
                    <a:pt x="169626" y="19385"/>
                    <a:pt x="169753" y="12654"/>
                  </a:cubicBezTo>
                  <a:cubicBezTo>
                    <a:pt x="169880" y="5923"/>
                    <a:pt x="175341" y="589"/>
                    <a:pt x="181945" y="716"/>
                  </a:cubicBezTo>
                  <a:cubicBezTo>
                    <a:pt x="188549" y="843"/>
                    <a:pt x="194010" y="6304"/>
                    <a:pt x="193883" y="12908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522724" y="3010789"/>
              <a:ext cx="194183" cy="24257"/>
            </a:xfrm>
            <a:custGeom>
              <a:avLst/>
              <a:gdLst/>
              <a:ahLst/>
              <a:cxnLst/>
              <a:rect r="r" b="b" t="t" l="l"/>
              <a:pathLst>
                <a:path h="24257" w="194183">
                  <a:moveTo>
                    <a:pt x="182118" y="24130"/>
                  </a:moveTo>
                  <a:lnTo>
                    <a:pt x="12065" y="24257"/>
                  </a:lnTo>
                  <a:cubicBezTo>
                    <a:pt x="5334" y="24257"/>
                    <a:pt x="0" y="18796"/>
                    <a:pt x="0" y="12192"/>
                  </a:cubicBezTo>
                  <a:cubicBezTo>
                    <a:pt x="0" y="5588"/>
                    <a:pt x="5461" y="127"/>
                    <a:pt x="12065" y="127"/>
                  </a:cubicBezTo>
                  <a:lnTo>
                    <a:pt x="182118" y="0"/>
                  </a:lnTo>
                  <a:cubicBezTo>
                    <a:pt x="188849" y="0"/>
                    <a:pt x="194183" y="5461"/>
                    <a:pt x="194183" y="12065"/>
                  </a:cubicBezTo>
                  <a:cubicBezTo>
                    <a:pt x="194183" y="18669"/>
                    <a:pt x="188722" y="24130"/>
                    <a:pt x="182118" y="24130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521927" y="3011008"/>
              <a:ext cx="196539" cy="103921"/>
            </a:xfrm>
            <a:custGeom>
              <a:avLst/>
              <a:gdLst/>
              <a:ahLst/>
              <a:cxnLst/>
              <a:rect r="r" b="b" t="t" l="l"/>
              <a:pathLst>
                <a:path h="103921" w="196539">
                  <a:moveTo>
                    <a:pt x="195869" y="12608"/>
                  </a:moveTo>
                  <a:cubicBezTo>
                    <a:pt x="195488" y="18831"/>
                    <a:pt x="194472" y="24800"/>
                    <a:pt x="192948" y="30769"/>
                  </a:cubicBezTo>
                  <a:cubicBezTo>
                    <a:pt x="191424" y="36738"/>
                    <a:pt x="189265" y="42453"/>
                    <a:pt x="186598" y="48041"/>
                  </a:cubicBezTo>
                  <a:cubicBezTo>
                    <a:pt x="183931" y="53629"/>
                    <a:pt x="180756" y="58836"/>
                    <a:pt x="177200" y="63789"/>
                  </a:cubicBezTo>
                  <a:lnTo>
                    <a:pt x="167421" y="56677"/>
                  </a:lnTo>
                  <a:lnTo>
                    <a:pt x="177200" y="63789"/>
                  </a:lnTo>
                  <a:cubicBezTo>
                    <a:pt x="173517" y="68742"/>
                    <a:pt x="169453" y="73441"/>
                    <a:pt x="165008" y="77632"/>
                  </a:cubicBezTo>
                  <a:cubicBezTo>
                    <a:pt x="160563" y="81823"/>
                    <a:pt x="155610" y="85633"/>
                    <a:pt x="150403" y="88808"/>
                  </a:cubicBezTo>
                  <a:cubicBezTo>
                    <a:pt x="145196" y="92110"/>
                    <a:pt x="139735" y="94904"/>
                    <a:pt x="134020" y="97190"/>
                  </a:cubicBezTo>
                  <a:lnTo>
                    <a:pt x="129575" y="85887"/>
                  </a:lnTo>
                  <a:lnTo>
                    <a:pt x="134020" y="97063"/>
                  </a:lnTo>
                  <a:cubicBezTo>
                    <a:pt x="128305" y="99349"/>
                    <a:pt x="122336" y="101000"/>
                    <a:pt x="116367" y="102143"/>
                  </a:cubicBezTo>
                  <a:cubicBezTo>
                    <a:pt x="110398" y="103286"/>
                    <a:pt x="104175" y="103921"/>
                    <a:pt x="98079" y="103921"/>
                  </a:cubicBezTo>
                  <a:lnTo>
                    <a:pt x="98079" y="91856"/>
                  </a:lnTo>
                  <a:lnTo>
                    <a:pt x="98079" y="103921"/>
                  </a:lnTo>
                  <a:cubicBezTo>
                    <a:pt x="91983" y="103921"/>
                    <a:pt x="85760" y="103413"/>
                    <a:pt x="79791" y="102270"/>
                  </a:cubicBezTo>
                  <a:lnTo>
                    <a:pt x="82077" y="90459"/>
                  </a:lnTo>
                  <a:lnTo>
                    <a:pt x="79791" y="102270"/>
                  </a:lnTo>
                  <a:cubicBezTo>
                    <a:pt x="73695" y="101127"/>
                    <a:pt x="67853" y="99476"/>
                    <a:pt x="62138" y="97190"/>
                  </a:cubicBezTo>
                  <a:cubicBezTo>
                    <a:pt x="56423" y="94904"/>
                    <a:pt x="50962" y="92110"/>
                    <a:pt x="45755" y="88935"/>
                  </a:cubicBezTo>
                  <a:lnTo>
                    <a:pt x="52232" y="78775"/>
                  </a:lnTo>
                  <a:lnTo>
                    <a:pt x="45755" y="89062"/>
                  </a:lnTo>
                  <a:cubicBezTo>
                    <a:pt x="40548" y="85760"/>
                    <a:pt x="35722" y="82077"/>
                    <a:pt x="31150" y="77886"/>
                  </a:cubicBezTo>
                  <a:cubicBezTo>
                    <a:pt x="26705" y="73695"/>
                    <a:pt x="22514" y="69123"/>
                    <a:pt x="18958" y="64170"/>
                  </a:cubicBezTo>
                  <a:cubicBezTo>
                    <a:pt x="15275" y="59217"/>
                    <a:pt x="12100" y="53883"/>
                    <a:pt x="9433" y="48422"/>
                  </a:cubicBezTo>
                  <a:cubicBezTo>
                    <a:pt x="6766" y="42834"/>
                    <a:pt x="4607" y="37119"/>
                    <a:pt x="3083" y="31150"/>
                  </a:cubicBezTo>
                  <a:lnTo>
                    <a:pt x="14767" y="28102"/>
                  </a:lnTo>
                  <a:lnTo>
                    <a:pt x="3083" y="31150"/>
                  </a:lnTo>
                  <a:cubicBezTo>
                    <a:pt x="1559" y="25181"/>
                    <a:pt x="543" y="19085"/>
                    <a:pt x="35" y="12989"/>
                  </a:cubicBezTo>
                  <a:cubicBezTo>
                    <a:pt x="-473" y="6385"/>
                    <a:pt x="4607" y="543"/>
                    <a:pt x="11211" y="35"/>
                  </a:cubicBezTo>
                  <a:cubicBezTo>
                    <a:pt x="17815" y="-473"/>
                    <a:pt x="23657" y="4607"/>
                    <a:pt x="24165" y="11211"/>
                  </a:cubicBezTo>
                  <a:cubicBezTo>
                    <a:pt x="24546" y="15910"/>
                    <a:pt x="25308" y="20482"/>
                    <a:pt x="26451" y="24927"/>
                  </a:cubicBezTo>
                  <a:cubicBezTo>
                    <a:pt x="27594" y="29499"/>
                    <a:pt x="29245" y="33817"/>
                    <a:pt x="31277" y="38008"/>
                  </a:cubicBezTo>
                  <a:lnTo>
                    <a:pt x="20355" y="43215"/>
                  </a:lnTo>
                  <a:lnTo>
                    <a:pt x="31277" y="38008"/>
                  </a:lnTo>
                  <a:cubicBezTo>
                    <a:pt x="33309" y="42199"/>
                    <a:pt x="35722" y="46136"/>
                    <a:pt x="38389" y="49946"/>
                  </a:cubicBezTo>
                  <a:lnTo>
                    <a:pt x="28610" y="57058"/>
                  </a:lnTo>
                  <a:lnTo>
                    <a:pt x="38389" y="49946"/>
                  </a:lnTo>
                  <a:cubicBezTo>
                    <a:pt x="41183" y="53756"/>
                    <a:pt x="44231" y="57185"/>
                    <a:pt x="47660" y="60360"/>
                  </a:cubicBezTo>
                  <a:lnTo>
                    <a:pt x="39405" y="69250"/>
                  </a:lnTo>
                  <a:lnTo>
                    <a:pt x="47660" y="60360"/>
                  </a:lnTo>
                  <a:cubicBezTo>
                    <a:pt x="51089" y="63535"/>
                    <a:pt x="54772" y="66329"/>
                    <a:pt x="58709" y="68869"/>
                  </a:cubicBezTo>
                  <a:cubicBezTo>
                    <a:pt x="62646" y="71282"/>
                    <a:pt x="66710" y="73441"/>
                    <a:pt x="71155" y="75092"/>
                  </a:cubicBezTo>
                  <a:lnTo>
                    <a:pt x="66710" y="86395"/>
                  </a:lnTo>
                  <a:lnTo>
                    <a:pt x="71155" y="75092"/>
                  </a:lnTo>
                  <a:cubicBezTo>
                    <a:pt x="75473" y="76743"/>
                    <a:pt x="79918" y="78140"/>
                    <a:pt x="84490" y="78902"/>
                  </a:cubicBezTo>
                  <a:cubicBezTo>
                    <a:pt x="89062" y="79791"/>
                    <a:pt x="93634" y="80172"/>
                    <a:pt x="98333" y="80172"/>
                  </a:cubicBezTo>
                  <a:cubicBezTo>
                    <a:pt x="103032" y="80172"/>
                    <a:pt x="107604" y="79664"/>
                    <a:pt x="112176" y="78902"/>
                  </a:cubicBezTo>
                  <a:lnTo>
                    <a:pt x="114462" y="90713"/>
                  </a:lnTo>
                  <a:lnTo>
                    <a:pt x="112176" y="78902"/>
                  </a:lnTo>
                  <a:cubicBezTo>
                    <a:pt x="116748" y="78013"/>
                    <a:pt x="121193" y="76743"/>
                    <a:pt x="125511" y="74965"/>
                  </a:cubicBezTo>
                  <a:cubicBezTo>
                    <a:pt x="129829" y="73314"/>
                    <a:pt x="134020" y="71155"/>
                    <a:pt x="137957" y="68742"/>
                  </a:cubicBezTo>
                  <a:lnTo>
                    <a:pt x="144434" y="78902"/>
                  </a:lnTo>
                  <a:lnTo>
                    <a:pt x="137957" y="68742"/>
                  </a:lnTo>
                  <a:cubicBezTo>
                    <a:pt x="141894" y="66202"/>
                    <a:pt x="145577" y="63408"/>
                    <a:pt x="149006" y="60233"/>
                  </a:cubicBezTo>
                  <a:lnTo>
                    <a:pt x="157261" y="69123"/>
                  </a:lnTo>
                  <a:lnTo>
                    <a:pt x="149006" y="60360"/>
                  </a:lnTo>
                  <a:cubicBezTo>
                    <a:pt x="152435" y="57185"/>
                    <a:pt x="155483" y="53756"/>
                    <a:pt x="158277" y="49946"/>
                  </a:cubicBezTo>
                  <a:cubicBezTo>
                    <a:pt x="161071" y="46263"/>
                    <a:pt x="163357" y="42199"/>
                    <a:pt x="165389" y="38008"/>
                  </a:cubicBezTo>
                  <a:lnTo>
                    <a:pt x="176311" y="43215"/>
                  </a:lnTo>
                  <a:lnTo>
                    <a:pt x="165389" y="38008"/>
                  </a:lnTo>
                  <a:cubicBezTo>
                    <a:pt x="167421" y="33817"/>
                    <a:pt x="168945" y="29499"/>
                    <a:pt x="170215" y="24927"/>
                  </a:cubicBezTo>
                  <a:lnTo>
                    <a:pt x="181899" y="27975"/>
                  </a:lnTo>
                  <a:lnTo>
                    <a:pt x="170215" y="24927"/>
                  </a:lnTo>
                  <a:cubicBezTo>
                    <a:pt x="171358" y="20355"/>
                    <a:pt x="172120" y="15910"/>
                    <a:pt x="172501" y="11211"/>
                  </a:cubicBezTo>
                  <a:cubicBezTo>
                    <a:pt x="173009" y="4607"/>
                    <a:pt x="178724" y="-473"/>
                    <a:pt x="185328" y="35"/>
                  </a:cubicBezTo>
                  <a:cubicBezTo>
                    <a:pt x="191932" y="543"/>
                    <a:pt x="197012" y="6258"/>
                    <a:pt x="196504" y="12862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147185" y="3010789"/>
              <a:ext cx="193929" cy="24511"/>
            </a:xfrm>
            <a:custGeom>
              <a:avLst/>
              <a:gdLst/>
              <a:ahLst/>
              <a:cxnLst/>
              <a:rect r="r" b="b" t="t" l="l"/>
              <a:pathLst>
                <a:path h="24511" w="193929">
                  <a:moveTo>
                    <a:pt x="181864" y="24511"/>
                  </a:moveTo>
                  <a:lnTo>
                    <a:pt x="12065" y="24130"/>
                  </a:lnTo>
                  <a:cubicBezTo>
                    <a:pt x="5334" y="24130"/>
                    <a:pt x="0" y="18669"/>
                    <a:pt x="0" y="12065"/>
                  </a:cubicBezTo>
                  <a:cubicBezTo>
                    <a:pt x="0" y="5461"/>
                    <a:pt x="5461" y="0"/>
                    <a:pt x="12065" y="0"/>
                  </a:cubicBezTo>
                  <a:lnTo>
                    <a:pt x="181864" y="381"/>
                  </a:lnTo>
                  <a:cubicBezTo>
                    <a:pt x="188595" y="381"/>
                    <a:pt x="193929" y="5842"/>
                    <a:pt x="193929" y="12446"/>
                  </a:cubicBezTo>
                  <a:cubicBezTo>
                    <a:pt x="193929" y="19050"/>
                    <a:pt x="188468" y="24511"/>
                    <a:pt x="181864" y="24511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607465" y="2827052"/>
              <a:ext cx="109284" cy="207836"/>
            </a:xfrm>
            <a:custGeom>
              <a:avLst/>
              <a:gdLst/>
              <a:ahLst/>
              <a:cxnLst/>
              <a:rect r="r" b="b" t="t" l="l"/>
              <a:pathLst>
                <a:path h="207836" w="109284">
                  <a:moveTo>
                    <a:pt x="86328" y="200882"/>
                  </a:moveTo>
                  <a:lnTo>
                    <a:pt x="1111" y="17113"/>
                  </a:lnTo>
                  <a:cubicBezTo>
                    <a:pt x="-1683" y="11017"/>
                    <a:pt x="984" y="3905"/>
                    <a:pt x="6953" y="1111"/>
                  </a:cubicBezTo>
                  <a:cubicBezTo>
                    <a:pt x="12922" y="-1683"/>
                    <a:pt x="20161" y="984"/>
                    <a:pt x="22955" y="6953"/>
                  </a:cubicBezTo>
                  <a:lnTo>
                    <a:pt x="108172" y="190722"/>
                  </a:lnTo>
                  <a:cubicBezTo>
                    <a:pt x="110966" y="196818"/>
                    <a:pt x="108299" y="203930"/>
                    <a:pt x="102330" y="206724"/>
                  </a:cubicBezTo>
                  <a:cubicBezTo>
                    <a:pt x="96361" y="209518"/>
                    <a:pt x="89122" y="206851"/>
                    <a:pt x="86328" y="200882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522651" y="2826927"/>
              <a:ext cx="108985" cy="208085"/>
            </a:xfrm>
            <a:custGeom>
              <a:avLst/>
              <a:gdLst/>
              <a:ahLst/>
              <a:cxnLst/>
              <a:rect r="r" b="b" t="t" l="l"/>
              <a:pathLst>
                <a:path h="208085" w="108985">
                  <a:moveTo>
                    <a:pt x="107896" y="17111"/>
                  </a:moveTo>
                  <a:lnTo>
                    <a:pt x="23060" y="201007"/>
                  </a:lnTo>
                  <a:cubicBezTo>
                    <a:pt x="20266" y="207103"/>
                    <a:pt x="13027" y="209770"/>
                    <a:pt x="7058" y="206976"/>
                  </a:cubicBezTo>
                  <a:cubicBezTo>
                    <a:pt x="1089" y="204182"/>
                    <a:pt x="-1705" y="196943"/>
                    <a:pt x="1089" y="190974"/>
                  </a:cubicBezTo>
                  <a:lnTo>
                    <a:pt x="85925" y="7078"/>
                  </a:lnTo>
                  <a:cubicBezTo>
                    <a:pt x="88719" y="982"/>
                    <a:pt x="95958" y="-1685"/>
                    <a:pt x="101927" y="1109"/>
                  </a:cubicBezTo>
                  <a:cubicBezTo>
                    <a:pt x="107896" y="3903"/>
                    <a:pt x="110690" y="11142"/>
                    <a:pt x="107896" y="17111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232563" y="2826673"/>
              <a:ext cx="108517" cy="208593"/>
            </a:xfrm>
            <a:custGeom>
              <a:avLst/>
              <a:gdLst/>
              <a:ahLst/>
              <a:cxnLst/>
              <a:rect r="r" b="b" t="t" l="l"/>
              <a:pathLst>
                <a:path h="208593" w="108517">
                  <a:moveTo>
                    <a:pt x="85437" y="201515"/>
                  </a:moveTo>
                  <a:lnTo>
                    <a:pt x="1109" y="17111"/>
                  </a:lnTo>
                  <a:cubicBezTo>
                    <a:pt x="-1685" y="11015"/>
                    <a:pt x="982" y="3903"/>
                    <a:pt x="7078" y="1109"/>
                  </a:cubicBezTo>
                  <a:cubicBezTo>
                    <a:pt x="13174" y="-1685"/>
                    <a:pt x="20286" y="982"/>
                    <a:pt x="23080" y="7078"/>
                  </a:cubicBezTo>
                  <a:lnTo>
                    <a:pt x="107408" y="191482"/>
                  </a:lnTo>
                  <a:cubicBezTo>
                    <a:pt x="110202" y="197578"/>
                    <a:pt x="107535" y="204690"/>
                    <a:pt x="101439" y="207484"/>
                  </a:cubicBezTo>
                  <a:cubicBezTo>
                    <a:pt x="95343" y="210278"/>
                    <a:pt x="88231" y="207611"/>
                    <a:pt x="85437" y="201515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147217" y="2826777"/>
              <a:ext cx="109538" cy="208131"/>
            </a:xfrm>
            <a:custGeom>
              <a:avLst/>
              <a:gdLst/>
              <a:ahLst/>
              <a:cxnLst/>
              <a:rect r="r" b="b" t="t" l="l"/>
              <a:pathLst>
                <a:path h="208131" w="109538">
                  <a:moveTo>
                    <a:pt x="108426" y="17134"/>
                  </a:moveTo>
                  <a:lnTo>
                    <a:pt x="22955" y="201157"/>
                  </a:lnTo>
                  <a:cubicBezTo>
                    <a:pt x="20161" y="207253"/>
                    <a:pt x="12922" y="209793"/>
                    <a:pt x="6953" y="206999"/>
                  </a:cubicBezTo>
                  <a:cubicBezTo>
                    <a:pt x="984" y="204205"/>
                    <a:pt x="-1683" y="196966"/>
                    <a:pt x="1111" y="190997"/>
                  </a:cubicBezTo>
                  <a:lnTo>
                    <a:pt x="86582" y="6974"/>
                  </a:lnTo>
                  <a:cubicBezTo>
                    <a:pt x="89376" y="878"/>
                    <a:pt x="96615" y="-1662"/>
                    <a:pt x="102584" y="1132"/>
                  </a:cubicBezTo>
                  <a:cubicBezTo>
                    <a:pt x="108553" y="3926"/>
                    <a:pt x="111220" y="11165"/>
                    <a:pt x="108426" y="17134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383532" y="2780792"/>
              <a:ext cx="97306" cy="68172"/>
            </a:xfrm>
            <a:custGeom>
              <a:avLst/>
              <a:gdLst/>
              <a:ahLst/>
              <a:cxnLst/>
              <a:rect r="r" b="b" t="t" l="l"/>
              <a:pathLst>
                <a:path h="68172" w="97306">
                  <a:moveTo>
                    <a:pt x="73025" y="53848"/>
                  </a:moveTo>
                  <a:cubicBezTo>
                    <a:pt x="73406" y="52070"/>
                    <a:pt x="73533" y="50292"/>
                    <a:pt x="73533" y="48387"/>
                  </a:cubicBezTo>
                  <a:cubicBezTo>
                    <a:pt x="73533" y="46609"/>
                    <a:pt x="73279" y="44831"/>
                    <a:pt x="72771" y="43053"/>
                  </a:cubicBezTo>
                  <a:lnTo>
                    <a:pt x="84455" y="40132"/>
                  </a:lnTo>
                  <a:lnTo>
                    <a:pt x="72771" y="43053"/>
                  </a:lnTo>
                  <a:cubicBezTo>
                    <a:pt x="72263" y="41275"/>
                    <a:pt x="71755" y="39624"/>
                    <a:pt x="70866" y="37973"/>
                  </a:cubicBezTo>
                  <a:cubicBezTo>
                    <a:pt x="70104" y="36322"/>
                    <a:pt x="69088" y="34798"/>
                    <a:pt x="67945" y="33401"/>
                  </a:cubicBezTo>
                  <a:lnTo>
                    <a:pt x="77343" y="25781"/>
                  </a:lnTo>
                  <a:lnTo>
                    <a:pt x="68072" y="33401"/>
                  </a:lnTo>
                  <a:cubicBezTo>
                    <a:pt x="66929" y="32004"/>
                    <a:pt x="65532" y="30734"/>
                    <a:pt x="64135" y="29591"/>
                  </a:cubicBezTo>
                  <a:cubicBezTo>
                    <a:pt x="62738" y="28448"/>
                    <a:pt x="61214" y="27559"/>
                    <a:pt x="59563" y="26797"/>
                  </a:cubicBezTo>
                  <a:cubicBezTo>
                    <a:pt x="59563" y="26797"/>
                    <a:pt x="59563" y="26797"/>
                    <a:pt x="59436" y="26797"/>
                  </a:cubicBezTo>
                  <a:cubicBezTo>
                    <a:pt x="57785" y="26035"/>
                    <a:pt x="56134" y="25400"/>
                    <a:pt x="54356" y="25019"/>
                  </a:cubicBezTo>
                  <a:cubicBezTo>
                    <a:pt x="52578" y="24638"/>
                    <a:pt x="50800" y="24384"/>
                    <a:pt x="48895" y="24384"/>
                  </a:cubicBezTo>
                  <a:lnTo>
                    <a:pt x="48895" y="12319"/>
                  </a:lnTo>
                  <a:lnTo>
                    <a:pt x="48895" y="24384"/>
                  </a:lnTo>
                  <a:cubicBezTo>
                    <a:pt x="46990" y="24384"/>
                    <a:pt x="45212" y="24638"/>
                    <a:pt x="43434" y="25019"/>
                  </a:cubicBezTo>
                  <a:cubicBezTo>
                    <a:pt x="41656" y="25400"/>
                    <a:pt x="40005" y="26035"/>
                    <a:pt x="38354" y="26797"/>
                  </a:cubicBezTo>
                  <a:cubicBezTo>
                    <a:pt x="38354" y="26797"/>
                    <a:pt x="38227" y="26797"/>
                    <a:pt x="38227" y="26797"/>
                  </a:cubicBezTo>
                  <a:cubicBezTo>
                    <a:pt x="36703" y="27559"/>
                    <a:pt x="35179" y="28448"/>
                    <a:pt x="33655" y="29591"/>
                  </a:cubicBezTo>
                  <a:lnTo>
                    <a:pt x="26162" y="20066"/>
                  </a:lnTo>
                  <a:lnTo>
                    <a:pt x="33655" y="29591"/>
                  </a:lnTo>
                  <a:cubicBezTo>
                    <a:pt x="32258" y="30734"/>
                    <a:pt x="30988" y="32004"/>
                    <a:pt x="29718" y="33401"/>
                  </a:cubicBezTo>
                  <a:lnTo>
                    <a:pt x="20320" y="25781"/>
                  </a:lnTo>
                  <a:lnTo>
                    <a:pt x="29718" y="33401"/>
                  </a:lnTo>
                  <a:cubicBezTo>
                    <a:pt x="28575" y="34798"/>
                    <a:pt x="27559" y="36322"/>
                    <a:pt x="26797" y="37973"/>
                  </a:cubicBezTo>
                  <a:lnTo>
                    <a:pt x="16002" y="32512"/>
                  </a:lnTo>
                  <a:lnTo>
                    <a:pt x="26797" y="37846"/>
                  </a:lnTo>
                  <a:cubicBezTo>
                    <a:pt x="26035" y="39497"/>
                    <a:pt x="25400" y="41148"/>
                    <a:pt x="24892" y="42926"/>
                  </a:cubicBezTo>
                  <a:lnTo>
                    <a:pt x="13208" y="40005"/>
                  </a:lnTo>
                  <a:lnTo>
                    <a:pt x="24892" y="42926"/>
                  </a:lnTo>
                  <a:cubicBezTo>
                    <a:pt x="24511" y="44704"/>
                    <a:pt x="24257" y="46482"/>
                    <a:pt x="24130" y="48260"/>
                  </a:cubicBezTo>
                  <a:lnTo>
                    <a:pt x="12065" y="48006"/>
                  </a:lnTo>
                  <a:lnTo>
                    <a:pt x="24130" y="48260"/>
                  </a:lnTo>
                  <a:cubicBezTo>
                    <a:pt x="24130" y="50165"/>
                    <a:pt x="24257" y="51943"/>
                    <a:pt x="24638" y="53721"/>
                  </a:cubicBezTo>
                  <a:cubicBezTo>
                    <a:pt x="26035" y="60198"/>
                    <a:pt x="21717" y="66675"/>
                    <a:pt x="15240" y="67945"/>
                  </a:cubicBezTo>
                  <a:cubicBezTo>
                    <a:pt x="8763" y="69215"/>
                    <a:pt x="2286" y="65024"/>
                    <a:pt x="1016" y="58547"/>
                  </a:cubicBezTo>
                  <a:cubicBezTo>
                    <a:pt x="254" y="54991"/>
                    <a:pt x="0" y="51435"/>
                    <a:pt x="0" y="47879"/>
                  </a:cubicBezTo>
                  <a:cubicBezTo>
                    <a:pt x="0" y="44323"/>
                    <a:pt x="508" y="40640"/>
                    <a:pt x="1397" y="37211"/>
                  </a:cubicBezTo>
                  <a:cubicBezTo>
                    <a:pt x="2286" y="33782"/>
                    <a:pt x="3556" y="30353"/>
                    <a:pt x="5080" y="27051"/>
                  </a:cubicBezTo>
                  <a:cubicBezTo>
                    <a:pt x="6731" y="23876"/>
                    <a:pt x="8636" y="20828"/>
                    <a:pt x="10922" y="18034"/>
                  </a:cubicBezTo>
                  <a:cubicBezTo>
                    <a:pt x="13208" y="15240"/>
                    <a:pt x="15748" y="12700"/>
                    <a:pt x="18669" y="10541"/>
                  </a:cubicBezTo>
                  <a:cubicBezTo>
                    <a:pt x="21463" y="8382"/>
                    <a:pt x="24511" y="6477"/>
                    <a:pt x="27813" y="4826"/>
                  </a:cubicBezTo>
                  <a:lnTo>
                    <a:pt x="32893" y="15748"/>
                  </a:lnTo>
                  <a:lnTo>
                    <a:pt x="27686" y="4826"/>
                  </a:lnTo>
                  <a:cubicBezTo>
                    <a:pt x="30988" y="3175"/>
                    <a:pt x="34417" y="2032"/>
                    <a:pt x="37973" y="1270"/>
                  </a:cubicBezTo>
                  <a:lnTo>
                    <a:pt x="40640" y="13081"/>
                  </a:lnTo>
                  <a:lnTo>
                    <a:pt x="37973" y="1270"/>
                  </a:lnTo>
                  <a:cubicBezTo>
                    <a:pt x="41529" y="508"/>
                    <a:pt x="45085" y="127"/>
                    <a:pt x="48641" y="0"/>
                  </a:cubicBezTo>
                  <a:cubicBezTo>
                    <a:pt x="52197" y="0"/>
                    <a:pt x="55753" y="381"/>
                    <a:pt x="59309" y="1143"/>
                  </a:cubicBezTo>
                  <a:lnTo>
                    <a:pt x="56642" y="12954"/>
                  </a:lnTo>
                  <a:lnTo>
                    <a:pt x="59309" y="1143"/>
                  </a:lnTo>
                  <a:cubicBezTo>
                    <a:pt x="62865" y="1905"/>
                    <a:pt x="66294" y="3048"/>
                    <a:pt x="69469" y="4699"/>
                  </a:cubicBezTo>
                  <a:lnTo>
                    <a:pt x="64262" y="15621"/>
                  </a:lnTo>
                  <a:lnTo>
                    <a:pt x="69342" y="4699"/>
                  </a:lnTo>
                  <a:cubicBezTo>
                    <a:pt x="72644" y="6223"/>
                    <a:pt x="75692" y="8128"/>
                    <a:pt x="78613" y="10414"/>
                  </a:cubicBezTo>
                  <a:lnTo>
                    <a:pt x="71120" y="19939"/>
                  </a:lnTo>
                  <a:lnTo>
                    <a:pt x="78613" y="10414"/>
                  </a:lnTo>
                  <a:cubicBezTo>
                    <a:pt x="81534" y="12700"/>
                    <a:pt x="84074" y="15113"/>
                    <a:pt x="86360" y="17907"/>
                  </a:cubicBezTo>
                  <a:cubicBezTo>
                    <a:pt x="88646" y="20701"/>
                    <a:pt x="90551" y="23749"/>
                    <a:pt x="92202" y="26924"/>
                  </a:cubicBezTo>
                  <a:lnTo>
                    <a:pt x="81407" y="32385"/>
                  </a:lnTo>
                  <a:lnTo>
                    <a:pt x="92202" y="26924"/>
                  </a:lnTo>
                  <a:cubicBezTo>
                    <a:pt x="93853" y="30099"/>
                    <a:pt x="95123" y="33528"/>
                    <a:pt x="95885" y="37084"/>
                  </a:cubicBezTo>
                  <a:cubicBezTo>
                    <a:pt x="96774" y="40513"/>
                    <a:pt x="97282" y="44069"/>
                    <a:pt x="97282" y="47752"/>
                  </a:cubicBezTo>
                  <a:lnTo>
                    <a:pt x="85217" y="48006"/>
                  </a:lnTo>
                  <a:lnTo>
                    <a:pt x="97282" y="47752"/>
                  </a:lnTo>
                  <a:cubicBezTo>
                    <a:pt x="97409" y="51435"/>
                    <a:pt x="97028" y="54991"/>
                    <a:pt x="96393" y="58420"/>
                  </a:cubicBezTo>
                  <a:cubicBezTo>
                    <a:pt x="95123" y="65024"/>
                    <a:pt x="88773" y="69215"/>
                    <a:pt x="82169" y="67945"/>
                  </a:cubicBezTo>
                  <a:cubicBezTo>
                    <a:pt x="75565" y="66675"/>
                    <a:pt x="71374" y="60325"/>
                    <a:pt x="72644" y="53721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4384194" y="2824761"/>
              <a:ext cx="94715" cy="53367"/>
            </a:xfrm>
            <a:custGeom>
              <a:avLst/>
              <a:gdLst/>
              <a:ahLst/>
              <a:cxnLst/>
              <a:rect r="r" b="b" t="t" l="l"/>
              <a:pathLst>
                <a:path h="53367" w="94715">
                  <a:moveTo>
                    <a:pt x="94715" y="18261"/>
                  </a:moveTo>
                  <a:cubicBezTo>
                    <a:pt x="93191" y="23468"/>
                    <a:pt x="90905" y="28421"/>
                    <a:pt x="87730" y="32866"/>
                  </a:cubicBezTo>
                  <a:lnTo>
                    <a:pt x="77824" y="25881"/>
                  </a:lnTo>
                  <a:lnTo>
                    <a:pt x="87730" y="32739"/>
                  </a:lnTo>
                  <a:cubicBezTo>
                    <a:pt x="84555" y="37184"/>
                    <a:pt x="80872" y="41121"/>
                    <a:pt x="76427" y="44169"/>
                  </a:cubicBezTo>
                  <a:lnTo>
                    <a:pt x="69315" y="34390"/>
                  </a:lnTo>
                  <a:lnTo>
                    <a:pt x="76427" y="44169"/>
                  </a:lnTo>
                  <a:cubicBezTo>
                    <a:pt x="71982" y="47344"/>
                    <a:pt x="67156" y="49757"/>
                    <a:pt x="62076" y="51281"/>
                  </a:cubicBezTo>
                  <a:lnTo>
                    <a:pt x="58520" y="39724"/>
                  </a:lnTo>
                  <a:lnTo>
                    <a:pt x="62076" y="51281"/>
                  </a:lnTo>
                  <a:cubicBezTo>
                    <a:pt x="56869" y="52932"/>
                    <a:pt x="51535" y="53567"/>
                    <a:pt x="46074" y="53313"/>
                  </a:cubicBezTo>
                  <a:lnTo>
                    <a:pt x="46582" y="41248"/>
                  </a:lnTo>
                  <a:lnTo>
                    <a:pt x="46074" y="53313"/>
                  </a:lnTo>
                  <a:cubicBezTo>
                    <a:pt x="40613" y="53059"/>
                    <a:pt x="35406" y="52043"/>
                    <a:pt x="30326" y="50011"/>
                  </a:cubicBezTo>
                  <a:cubicBezTo>
                    <a:pt x="25246" y="48106"/>
                    <a:pt x="20674" y="45312"/>
                    <a:pt x="16483" y="41756"/>
                  </a:cubicBezTo>
                  <a:cubicBezTo>
                    <a:pt x="12419" y="38200"/>
                    <a:pt x="8863" y="34136"/>
                    <a:pt x="6069" y="29437"/>
                  </a:cubicBezTo>
                  <a:cubicBezTo>
                    <a:pt x="3275" y="24738"/>
                    <a:pt x="1370" y="19785"/>
                    <a:pt x="227" y="14451"/>
                  </a:cubicBezTo>
                  <a:cubicBezTo>
                    <a:pt x="-1043" y="7974"/>
                    <a:pt x="3148" y="1497"/>
                    <a:pt x="9625" y="227"/>
                  </a:cubicBezTo>
                  <a:cubicBezTo>
                    <a:pt x="16102" y="-1043"/>
                    <a:pt x="22579" y="3148"/>
                    <a:pt x="23849" y="9625"/>
                  </a:cubicBezTo>
                  <a:cubicBezTo>
                    <a:pt x="24357" y="12292"/>
                    <a:pt x="25373" y="14832"/>
                    <a:pt x="26770" y="17118"/>
                  </a:cubicBezTo>
                  <a:lnTo>
                    <a:pt x="16356" y="23214"/>
                  </a:lnTo>
                  <a:lnTo>
                    <a:pt x="26770" y="17118"/>
                  </a:lnTo>
                  <a:cubicBezTo>
                    <a:pt x="28167" y="19531"/>
                    <a:pt x="29945" y="21563"/>
                    <a:pt x="31977" y="23341"/>
                  </a:cubicBezTo>
                  <a:lnTo>
                    <a:pt x="24103" y="32612"/>
                  </a:lnTo>
                  <a:lnTo>
                    <a:pt x="31977" y="23341"/>
                  </a:lnTo>
                  <a:cubicBezTo>
                    <a:pt x="34009" y="25119"/>
                    <a:pt x="36295" y="26516"/>
                    <a:pt x="38962" y="27532"/>
                  </a:cubicBezTo>
                  <a:lnTo>
                    <a:pt x="34517" y="38835"/>
                  </a:lnTo>
                  <a:lnTo>
                    <a:pt x="38835" y="27532"/>
                  </a:lnTo>
                  <a:cubicBezTo>
                    <a:pt x="41375" y="28548"/>
                    <a:pt x="44042" y="29056"/>
                    <a:pt x="46709" y="29183"/>
                  </a:cubicBezTo>
                  <a:cubicBezTo>
                    <a:pt x="49503" y="29310"/>
                    <a:pt x="52170" y="28929"/>
                    <a:pt x="54710" y="28167"/>
                  </a:cubicBezTo>
                  <a:cubicBezTo>
                    <a:pt x="57377" y="27405"/>
                    <a:pt x="59790" y="26135"/>
                    <a:pt x="61949" y="24611"/>
                  </a:cubicBezTo>
                  <a:cubicBezTo>
                    <a:pt x="64108" y="22960"/>
                    <a:pt x="66013" y="21055"/>
                    <a:pt x="67537" y="18896"/>
                  </a:cubicBezTo>
                  <a:cubicBezTo>
                    <a:pt x="69061" y="16737"/>
                    <a:pt x="70204" y="14324"/>
                    <a:pt x="70966" y="11657"/>
                  </a:cubicBezTo>
                  <a:cubicBezTo>
                    <a:pt x="72744" y="5180"/>
                    <a:pt x="79475" y="1497"/>
                    <a:pt x="85825" y="3275"/>
                  </a:cubicBezTo>
                  <a:cubicBezTo>
                    <a:pt x="92175" y="5053"/>
                    <a:pt x="95985" y="11784"/>
                    <a:pt x="94207" y="18134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202811" y="2824734"/>
              <a:ext cx="205105" cy="24511"/>
            </a:xfrm>
            <a:custGeom>
              <a:avLst/>
              <a:gdLst/>
              <a:ahLst/>
              <a:cxnLst/>
              <a:rect r="r" b="b" t="t" l="l"/>
              <a:pathLst>
                <a:path h="24511" w="205105">
                  <a:moveTo>
                    <a:pt x="193040" y="24511"/>
                  </a:moveTo>
                  <a:lnTo>
                    <a:pt x="12065" y="24130"/>
                  </a:lnTo>
                  <a:cubicBezTo>
                    <a:pt x="5334" y="24130"/>
                    <a:pt x="0" y="18669"/>
                    <a:pt x="0" y="12065"/>
                  </a:cubicBezTo>
                  <a:cubicBezTo>
                    <a:pt x="0" y="5461"/>
                    <a:pt x="5461" y="0"/>
                    <a:pt x="12065" y="0"/>
                  </a:cubicBezTo>
                  <a:lnTo>
                    <a:pt x="193040" y="381"/>
                  </a:lnTo>
                  <a:cubicBezTo>
                    <a:pt x="199771" y="381"/>
                    <a:pt x="205105" y="5842"/>
                    <a:pt x="205105" y="12446"/>
                  </a:cubicBezTo>
                  <a:cubicBezTo>
                    <a:pt x="205105" y="19050"/>
                    <a:pt x="199644" y="24511"/>
                    <a:pt x="193040" y="24511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4419854" y="2853817"/>
              <a:ext cx="24257" cy="353568"/>
            </a:xfrm>
            <a:custGeom>
              <a:avLst/>
              <a:gdLst/>
              <a:ahLst/>
              <a:cxnLst/>
              <a:rect r="r" b="b" t="t" l="l"/>
              <a:pathLst>
                <a:path h="353568" w="24257">
                  <a:moveTo>
                    <a:pt x="24257" y="12065"/>
                  </a:moveTo>
                  <a:lnTo>
                    <a:pt x="24130" y="341503"/>
                  </a:lnTo>
                  <a:cubicBezTo>
                    <a:pt x="24130" y="348234"/>
                    <a:pt x="18669" y="353568"/>
                    <a:pt x="12065" y="353568"/>
                  </a:cubicBezTo>
                  <a:cubicBezTo>
                    <a:pt x="5461" y="353568"/>
                    <a:pt x="0" y="348107"/>
                    <a:pt x="0" y="341503"/>
                  </a:cubicBezTo>
                  <a:lnTo>
                    <a:pt x="127" y="12065"/>
                  </a:lnTo>
                  <a:cubicBezTo>
                    <a:pt x="127" y="5334"/>
                    <a:pt x="5588" y="0"/>
                    <a:pt x="12192" y="0"/>
                  </a:cubicBezTo>
                  <a:cubicBezTo>
                    <a:pt x="18796" y="0"/>
                    <a:pt x="24257" y="5461"/>
                    <a:pt x="24257" y="12065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290060" y="3183255"/>
              <a:ext cx="283972" cy="24257"/>
            </a:xfrm>
            <a:custGeom>
              <a:avLst/>
              <a:gdLst/>
              <a:ahLst/>
              <a:cxnLst/>
              <a:rect r="r" b="b" t="t" l="l"/>
              <a:pathLst>
                <a:path h="24257" w="283972">
                  <a:moveTo>
                    <a:pt x="12065" y="0"/>
                  </a:moveTo>
                  <a:lnTo>
                    <a:pt x="271907" y="127"/>
                  </a:lnTo>
                  <a:cubicBezTo>
                    <a:pt x="278638" y="127"/>
                    <a:pt x="283972" y="5588"/>
                    <a:pt x="283972" y="12192"/>
                  </a:cubicBezTo>
                  <a:cubicBezTo>
                    <a:pt x="283972" y="18796"/>
                    <a:pt x="278511" y="24257"/>
                    <a:pt x="271907" y="24257"/>
                  </a:cubicBezTo>
                  <a:lnTo>
                    <a:pt x="12065" y="24130"/>
                  </a:lnTo>
                  <a:cubicBezTo>
                    <a:pt x="5334" y="24130"/>
                    <a:pt x="0" y="18669"/>
                    <a:pt x="0" y="12065"/>
                  </a:cubicBezTo>
                  <a:cubicBezTo>
                    <a:pt x="0" y="5461"/>
                    <a:pt x="5461" y="0"/>
                    <a:pt x="12065" y="0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456811" y="2824607"/>
              <a:ext cx="203708" cy="24257"/>
            </a:xfrm>
            <a:custGeom>
              <a:avLst/>
              <a:gdLst/>
              <a:ahLst/>
              <a:cxnLst/>
              <a:rect r="r" b="b" t="t" l="l"/>
              <a:pathLst>
                <a:path h="24257" w="203708">
                  <a:moveTo>
                    <a:pt x="12065" y="127"/>
                  </a:moveTo>
                  <a:lnTo>
                    <a:pt x="191643" y="0"/>
                  </a:lnTo>
                  <a:cubicBezTo>
                    <a:pt x="198374" y="0"/>
                    <a:pt x="203708" y="5461"/>
                    <a:pt x="203708" y="12065"/>
                  </a:cubicBezTo>
                  <a:cubicBezTo>
                    <a:pt x="203708" y="18669"/>
                    <a:pt x="198247" y="24130"/>
                    <a:pt x="191643" y="24130"/>
                  </a:cubicBezTo>
                  <a:lnTo>
                    <a:pt x="12065" y="24257"/>
                  </a:lnTo>
                  <a:cubicBezTo>
                    <a:pt x="5334" y="24257"/>
                    <a:pt x="0" y="18796"/>
                    <a:pt x="0" y="12192"/>
                  </a:cubicBezTo>
                  <a:cubicBezTo>
                    <a:pt x="0" y="5588"/>
                    <a:pt x="5461" y="127"/>
                    <a:pt x="12065" y="127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7614031" y="2734945"/>
              <a:ext cx="24765" cy="518541"/>
            </a:xfrm>
            <a:custGeom>
              <a:avLst/>
              <a:gdLst/>
              <a:ahLst/>
              <a:cxnLst/>
              <a:rect r="r" b="b" t="t" l="l"/>
              <a:pathLst>
                <a:path h="518541" w="24765">
                  <a:moveTo>
                    <a:pt x="24638" y="12319"/>
                  </a:moveTo>
                  <a:lnTo>
                    <a:pt x="24765" y="506222"/>
                  </a:lnTo>
                  <a:cubicBezTo>
                    <a:pt x="24765" y="512953"/>
                    <a:pt x="19304" y="518541"/>
                    <a:pt x="12445" y="518541"/>
                  </a:cubicBezTo>
                  <a:cubicBezTo>
                    <a:pt x="5588" y="518541"/>
                    <a:pt x="127" y="513080"/>
                    <a:pt x="127" y="506222"/>
                  </a:cubicBezTo>
                  <a:lnTo>
                    <a:pt x="0" y="12319"/>
                  </a:lnTo>
                  <a:cubicBezTo>
                    <a:pt x="0" y="5588"/>
                    <a:pt x="5461" y="0"/>
                    <a:pt x="12319" y="0"/>
                  </a:cubicBezTo>
                  <a:cubicBezTo>
                    <a:pt x="19177" y="0"/>
                    <a:pt x="24638" y="5461"/>
                    <a:pt x="24638" y="12319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7614158" y="3228975"/>
              <a:ext cx="570484" cy="24638"/>
            </a:xfrm>
            <a:custGeom>
              <a:avLst/>
              <a:gdLst/>
              <a:ahLst/>
              <a:cxnLst/>
              <a:rect r="r" b="b" t="t" l="l"/>
              <a:pathLst>
                <a:path h="24638" w="570484">
                  <a:moveTo>
                    <a:pt x="12319" y="0"/>
                  </a:moveTo>
                  <a:lnTo>
                    <a:pt x="558165" y="0"/>
                  </a:lnTo>
                  <a:cubicBezTo>
                    <a:pt x="564896" y="0"/>
                    <a:pt x="570484" y="5461"/>
                    <a:pt x="570484" y="12319"/>
                  </a:cubicBezTo>
                  <a:cubicBezTo>
                    <a:pt x="570484" y="19177"/>
                    <a:pt x="565023" y="24638"/>
                    <a:pt x="558165" y="24638"/>
                  </a:cubicBezTo>
                  <a:lnTo>
                    <a:pt x="12319" y="24638"/>
                  </a:lnTo>
                  <a:cubicBezTo>
                    <a:pt x="5588" y="24638"/>
                    <a:pt x="0" y="19177"/>
                    <a:pt x="0" y="12319"/>
                  </a:cubicBezTo>
                  <a:cubicBezTo>
                    <a:pt x="0" y="5461"/>
                    <a:pt x="5461" y="0"/>
                    <a:pt x="12319" y="0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8061585" y="2741047"/>
              <a:ext cx="120892" cy="53201"/>
            </a:xfrm>
            <a:custGeom>
              <a:avLst/>
              <a:gdLst/>
              <a:ahLst/>
              <a:cxnLst/>
              <a:rect r="r" b="b" t="t" l="l"/>
              <a:pathLst>
                <a:path h="53201" w="120892">
                  <a:moveTo>
                    <a:pt x="8757" y="29204"/>
                  </a:moveTo>
                  <a:lnTo>
                    <a:pt x="105151" y="502"/>
                  </a:lnTo>
                  <a:cubicBezTo>
                    <a:pt x="111627" y="-1403"/>
                    <a:pt x="118485" y="2280"/>
                    <a:pt x="120390" y="8757"/>
                  </a:cubicBezTo>
                  <a:cubicBezTo>
                    <a:pt x="122295" y="15234"/>
                    <a:pt x="118613" y="22092"/>
                    <a:pt x="112135" y="23997"/>
                  </a:cubicBezTo>
                  <a:lnTo>
                    <a:pt x="15742" y="52699"/>
                  </a:lnTo>
                  <a:cubicBezTo>
                    <a:pt x="9265" y="54604"/>
                    <a:pt x="2407" y="50921"/>
                    <a:pt x="502" y="44444"/>
                  </a:cubicBezTo>
                  <a:cubicBezTo>
                    <a:pt x="-1403" y="37967"/>
                    <a:pt x="2280" y="31109"/>
                    <a:pt x="8757" y="29204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7952464" y="2741019"/>
              <a:ext cx="230040" cy="301541"/>
            </a:xfrm>
            <a:custGeom>
              <a:avLst/>
              <a:gdLst/>
              <a:ahLst/>
              <a:cxnLst/>
              <a:rect r="r" b="b" t="t" l="l"/>
              <a:pathLst>
                <a:path h="301541" w="230040">
                  <a:moveTo>
                    <a:pt x="227606" y="19580"/>
                  </a:moveTo>
                  <a:lnTo>
                    <a:pt x="22120" y="296567"/>
                  </a:lnTo>
                  <a:cubicBezTo>
                    <a:pt x="18056" y="302028"/>
                    <a:pt x="10436" y="303171"/>
                    <a:pt x="4974" y="299107"/>
                  </a:cubicBezTo>
                  <a:cubicBezTo>
                    <a:pt x="-487" y="295043"/>
                    <a:pt x="-1629" y="287423"/>
                    <a:pt x="2435" y="281962"/>
                  </a:cubicBezTo>
                  <a:lnTo>
                    <a:pt x="207921" y="4975"/>
                  </a:lnTo>
                  <a:cubicBezTo>
                    <a:pt x="211985" y="-486"/>
                    <a:pt x="219605" y="-1629"/>
                    <a:pt x="225066" y="2435"/>
                  </a:cubicBezTo>
                  <a:cubicBezTo>
                    <a:pt x="230526" y="6499"/>
                    <a:pt x="231670" y="14119"/>
                    <a:pt x="227606" y="19580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7857280" y="2918123"/>
              <a:ext cx="119674" cy="124373"/>
            </a:xfrm>
            <a:custGeom>
              <a:avLst/>
              <a:gdLst/>
              <a:ahLst/>
              <a:cxnLst/>
              <a:rect r="r" b="b" t="t" l="l"/>
              <a:pathLst>
                <a:path h="124373" w="119674">
                  <a:moveTo>
                    <a:pt x="98508" y="120606"/>
                  </a:moveTo>
                  <a:lnTo>
                    <a:pt x="3385" y="20784"/>
                  </a:lnTo>
                  <a:cubicBezTo>
                    <a:pt x="-1314" y="15831"/>
                    <a:pt x="-1060" y="8084"/>
                    <a:pt x="3766" y="3385"/>
                  </a:cubicBezTo>
                  <a:cubicBezTo>
                    <a:pt x="8592" y="-1314"/>
                    <a:pt x="16466" y="-1060"/>
                    <a:pt x="21165" y="3766"/>
                  </a:cubicBezTo>
                  <a:lnTo>
                    <a:pt x="116288" y="103588"/>
                  </a:lnTo>
                  <a:cubicBezTo>
                    <a:pt x="120987" y="108541"/>
                    <a:pt x="120733" y="116288"/>
                    <a:pt x="115907" y="120987"/>
                  </a:cubicBezTo>
                  <a:cubicBezTo>
                    <a:pt x="111081" y="125686"/>
                    <a:pt x="103207" y="125432"/>
                    <a:pt x="98508" y="120606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7674611" y="2918120"/>
              <a:ext cx="207262" cy="249599"/>
            </a:xfrm>
            <a:custGeom>
              <a:avLst/>
              <a:gdLst/>
              <a:ahLst/>
              <a:cxnLst/>
              <a:rect r="r" b="b" t="t" l="l"/>
              <a:pathLst>
                <a:path h="249599" w="207262">
                  <a:moveTo>
                    <a:pt x="2793" y="229575"/>
                  </a:moveTo>
                  <a:lnTo>
                    <a:pt x="185419" y="4531"/>
                  </a:lnTo>
                  <a:cubicBezTo>
                    <a:pt x="189737" y="-676"/>
                    <a:pt x="197357" y="-1565"/>
                    <a:pt x="202691" y="2753"/>
                  </a:cubicBezTo>
                  <a:cubicBezTo>
                    <a:pt x="208025" y="7071"/>
                    <a:pt x="208787" y="14691"/>
                    <a:pt x="204469" y="20025"/>
                  </a:cubicBezTo>
                  <a:lnTo>
                    <a:pt x="21843" y="245069"/>
                  </a:lnTo>
                  <a:cubicBezTo>
                    <a:pt x="17525" y="250276"/>
                    <a:pt x="9905" y="251165"/>
                    <a:pt x="4571" y="246847"/>
                  </a:cubicBezTo>
                  <a:cubicBezTo>
                    <a:pt x="-763" y="242529"/>
                    <a:pt x="-1525" y="234909"/>
                    <a:pt x="2793" y="229575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8160258" y="2740279"/>
              <a:ext cx="24765" cy="122809"/>
            </a:xfrm>
            <a:custGeom>
              <a:avLst/>
              <a:gdLst/>
              <a:ahLst/>
              <a:cxnLst/>
              <a:rect r="r" b="b" t="t" l="l"/>
              <a:pathLst>
                <a:path h="122809" w="24765">
                  <a:moveTo>
                    <a:pt x="0" y="110490"/>
                  </a:moveTo>
                  <a:lnTo>
                    <a:pt x="254" y="12192"/>
                  </a:lnTo>
                  <a:cubicBezTo>
                    <a:pt x="254" y="5461"/>
                    <a:pt x="5842" y="0"/>
                    <a:pt x="12573" y="0"/>
                  </a:cubicBezTo>
                  <a:cubicBezTo>
                    <a:pt x="19304" y="0"/>
                    <a:pt x="24765" y="5588"/>
                    <a:pt x="24765" y="12319"/>
                  </a:cubicBezTo>
                  <a:lnTo>
                    <a:pt x="24511" y="110617"/>
                  </a:lnTo>
                  <a:cubicBezTo>
                    <a:pt x="24511" y="117348"/>
                    <a:pt x="18923" y="122809"/>
                    <a:pt x="12192" y="122809"/>
                  </a:cubicBezTo>
                  <a:cubicBezTo>
                    <a:pt x="5461" y="122809"/>
                    <a:pt x="0" y="117221"/>
                    <a:pt x="0" y="110490"/>
                  </a:cubicBezTo>
                  <a:close/>
                </a:path>
              </a:pathLst>
            </a:custGeom>
            <a:solidFill>
              <a:srgbClr val="3371A5">
                <a:alpha val="80000"/>
              </a:srgbClr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32521" y="2718965"/>
            <a:ext cx="6621657" cy="92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5391" spc="8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Challenges and Risks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2521" y="5296609"/>
            <a:ext cx="3462325" cy="605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2695" spc="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Inflationary Pressures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807921" y="5944675"/>
            <a:ext cx="73299" cy="55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0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561431" y="5429959"/>
            <a:ext cx="5137535" cy="199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Regulatory Landscape</a:t>
            </a:r>
          </a:p>
          <a:p>
            <a:pPr algn="l">
              <a:lnSpc>
                <a:spcPts val="3674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Uncertainties from tariffs, trade policies, and evolving drug pricing legislation impacting operational costs.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090340" y="5296609"/>
            <a:ext cx="4076944" cy="605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2695" spc="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Competitive Environment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65757" y="5944675"/>
            <a:ext cx="73299" cy="55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0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32521" y="6058975"/>
            <a:ext cx="5087822" cy="136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Risingcostsandconstrained consumer spending, particularly in lower-income segments.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090340" y="6058975"/>
            <a:ext cx="5032281" cy="43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Thedynamicretaillandscapedemands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090340" y="6515477"/>
            <a:ext cx="5024520" cy="910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290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continuous innovation and agile supply chain management.</a:t>
            </a:r>
          </a:p>
        </p:txBody>
      </p:sp>
    </p:spTree>
  </p:cSld>
  <p:clrMapOvr>
    <a:masterClrMapping/>
  </p:clrMapOvr>
  <p:transition spd="fast">
    <p:circl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0"/>
            <a:ext cx="15127941" cy="10287000"/>
            <a:chOff x="0" y="0"/>
            <a:chExt cx="15240000" cy="1036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10363200"/>
            </a:xfrm>
            <a:custGeom>
              <a:avLst/>
              <a:gdLst/>
              <a:ahLst/>
              <a:cxnLst/>
              <a:rect r="r" b="b" t="t" l="l"/>
              <a:pathLst>
                <a:path h="10363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10363200"/>
                  </a:lnTo>
                  <a:lnTo>
                    <a:pt x="0" y="1036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59" y="0"/>
            <a:ext cx="15127941" cy="10287000"/>
            <a:chOff x="0" y="0"/>
            <a:chExt cx="11430000" cy="777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7772400"/>
            </a:xfrm>
            <a:custGeom>
              <a:avLst/>
              <a:gdLst/>
              <a:ahLst/>
              <a:cxnLst/>
              <a:rect r="r" b="b" t="t" l="l"/>
              <a:pathLst>
                <a:path h="7772400" w="11430000">
                  <a:moveTo>
                    <a:pt x="0" y="7772400"/>
                  </a:moveTo>
                  <a:lnTo>
                    <a:pt x="11430000" y="77724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80000"/>
              </a:blip>
              <a:stretch>
                <a:fillRect l="-10714" t="0" r="-1071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8602" y="3302934"/>
            <a:ext cx="8534680" cy="4752695"/>
            <a:chOff x="0" y="0"/>
            <a:chExt cx="8597900" cy="4787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97900" cy="4787900"/>
            </a:xfrm>
            <a:custGeom>
              <a:avLst/>
              <a:gdLst/>
              <a:ahLst/>
              <a:cxnLst/>
              <a:rect r="r" b="b" t="t" l="l"/>
              <a:pathLst>
                <a:path h="4787900" w="8597900">
                  <a:moveTo>
                    <a:pt x="84963" y="0"/>
                  </a:moveTo>
                  <a:cubicBezTo>
                    <a:pt x="73787" y="0"/>
                    <a:pt x="62865" y="2159"/>
                    <a:pt x="52451" y="6477"/>
                  </a:cubicBezTo>
                  <a:cubicBezTo>
                    <a:pt x="42037" y="10795"/>
                    <a:pt x="32893" y="16891"/>
                    <a:pt x="24892" y="24892"/>
                  </a:cubicBezTo>
                  <a:cubicBezTo>
                    <a:pt x="16891" y="32893"/>
                    <a:pt x="10795" y="42037"/>
                    <a:pt x="6477" y="52451"/>
                  </a:cubicBezTo>
                  <a:cubicBezTo>
                    <a:pt x="2159" y="62865"/>
                    <a:pt x="0" y="73787"/>
                    <a:pt x="0" y="84963"/>
                  </a:cubicBezTo>
                  <a:lnTo>
                    <a:pt x="0" y="4702937"/>
                  </a:lnTo>
                  <a:cubicBezTo>
                    <a:pt x="0" y="4714240"/>
                    <a:pt x="2159" y="4725035"/>
                    <a:pt x="6477" y="4735449"/>
                  </a:cubicBezTo>
                  <a:cubicBezTo>
                    <a:pt x="10795" y="4745863"/>
                    <a:pt x="16891" y="4755007"/>
                    <a:pt x="24892" y="4763008"/>
                  </a:cubicBezTo>
                  <a:cubicBezTo>
                    <a:pt x="32893" y="4771009"/>
                    <a:pt x="42037" y="4777105"/>
                    <a:pt x="52451" y="4781423"/>
                  </a:cubicBezTo>
                  <a:cubicBezTo>
                    <a:pt x="62865" y="4785741"/>
                    <a:pt x="73660" y="4787900"/>
                    <a:pt x="84963" y="4787900"/>
                  </a:cubicBezTo>
                  <a:lnTo>
                    <a:pt x="8512937" y="4787900"/>
                  </a:lnTo>
                  <a:cubicBezTo>
                    <a:pt x="8524240" y="4787900"/>
                    <a:pt x="8535035" y="4785741"/>
                    <a:pt x="8545449" y="4781423"/>
                  </a:cubicBezTo>
                  <a:cubicBezTo>
                    <a:pt x="8555863" y="4777105"/>
                    <a:pt x="8565007" y="4771009"/>
                    <a:pt x="8573008" y="4763008"/>
                  </a:cubicBezTo>
                  <a:cubicBezTo>
                    <a:pt x="8581009" y="4755007"/>
                    <a:pt x="8587105" y="4745863"/>
                    <a:pt x="8591423" y="4735449"/>
                  </a:cubicBezTo>
                  <a:cubicBezTo>
                    <a:pt x="8595741" y="4725035"/>
                    <a:pt x="8597900" y="4714240"/>
                    <a:pt x="8597900" y="4702937"/>
                  </a:cubicBezTo>
                  <a:lnTo>
                    <a:pt x="8597900" y="84963"/>
                  </a:lnTo>
                  <a:cubicBezTo>
                    <a:pt x="8597900" y="73660"/>
                    <a:pt x="8595741" y="62865"/>
                    <a:pt x="8591423" y="52451"/>
                  </a:cubicBezTo>
                  <a:cubicBezTo>
                    <a:pt x="8587105" y="42037"/>
                    <a:pt x="8581009" y="32893"/>
                    <a:pt x="8573008" y="24892"/>
                  </a:cubicBezTo>
                  <a:cubicBezTo>
                    <a:pt x="8565007" y="16891"/>
                    <a:pt x="8555863" y="10795"/>
                    <a:pt x="8545449" y="6477"/>
                  </a:cubicBezTo>
                  <a:cubicBezTo>
                    <a:pt x="8535035" y="2159"/>
                    <a:pt x="8524113" y="0"/>
                    <a:pt x="851293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036220" y="2117912"/>
            <a:ext cx="75640" cy="75640"/>
            <a:chOff x="0" y="0"/>
            <a:chExt cx="5715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B354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36220" y="4134971"/>
            <a:ext cx="75640" cy="75640"/>
            <a:chOff x="0" y="0"/>
            <a:chExt cx="57150" cy="57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B354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36220" y="6139423"/>
            <a:ext cx="75640" cy="75640"/>
            <a:chOff x="0" y="0"/>
            <a:chExt cx="5715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B354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36220" y="7765677"/>
            <a:ext cx="75640" cy="75640"/>
            <a:chOff x="0" y="0"/>
            <a:chExt cx="5715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B3541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57808" y="600560"/>
            <a:ext cx="7099759" cy="76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3"/>
              </a:lnSpc>
            </a:pPr>
            <a:r>
              <a:rPr lang="en-US" sz="4466" spc="67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Strategic Recommendations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74228" y="1935407"/>
            <a:ext cx="4063415" cy="755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0"/>
              </a:lnSpc>
            </a:pPr>
            <a:r>
              <a:rPr lang="en-US" b="true" sz="1897" spc="-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Digital Acceleration:</a:t>
            </a:r>
            <a:r>
              <a:rPr lang="en-US" sz="189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Intensify investments in digital platforms and omnichannel capabilities to fully </a:t>
            </a:r>
          </a:p>
          <a:p>
            <a:pPr algn="just">
              <a:lnSpc>
                <a:spcPts val="3275"/>
              </a:lnSpc>
            </a:pPr>
            <a:r>
              <a:rPr lang="en-US" sz="189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capitalize on growing eCommerce </a:t>
            </a:r>
          </a:p>
          <a:p>
            <a:pPr algn="just">
              <a:lnSpc>
                <a:spcPts val="2679"/>
              </a:lnSpc>
            </a:pPr>
            <a:r>
              <a:rPr lang="en-US" sz="189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demand.</a:t>
            </a:r>
          </a:p>
          <a:p>
            <a:pPr algn="just">
              <a:lnSpc>
                <a:spcPts val="4744"/>
              </a:lnSpc>
            </a:pPr>
            <a:r>
              <a:rPr lang="en-US" b="true" sz="1897" spc="-3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Membership Expansion:</a:t>
            </a:r>
            <a:r>
              <a:rPr lang="en-US" sz="1897" spc="-3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Grow high-</a:t>
            </a:r>
          </a:p>
          <a:p>
            <a:pPr algn="just">
              <a:lnSpc>
                <a:spcPts val="1210"/>
              </a:lnSpc>
            </a:pPr>
            <a:r>
              <a:rPr lang="en-US" sz="189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margin membership programs and </a:t>
            </a:r>
          </a:p>
          <a:p>
            <a:pPr algn="just">
              <a:lnSpc>
                <a:spcPts val="4744"/>
              </a:lnSpc>
            </a:pPr>
            <a:r>
              <a:rPr lang="en-US" sz="189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expand the Walmart Connect </a:t>
            </a:r>
          </a:p>
          <a:p>
            <a:pPr algn="just">
              <a:lnSpc>
                <a:spcPts val="1210"/>
              </a:lnSpc>
            </a:pPr>
            <a:r>
              <a:rPr lang="en-US" sz="189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advertising platform for increased </a:t>
            </a:r>
          </a:p>
          <a:p>
            <a:pPr algn="just">
              <a:lnSpc>
                <a:spcPts val="4744"/>
              </a:lnSpc>
            </a:pPr>
            <a:r>
              <a:rPr lang="en-US" sz="189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engagement.</a:t>
            </a:r>
          </a:p>
          <a:p>
            <a:pPr algn="just">
              <a:lnSpc>
                <a:spcPts val="2600"/>
              </a:lnSpc>
            </a:pPr>
            <a:r>
              <a:rPr lang="en-US" b="true" sz="1897" spc="-3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Product Optimization:</a:t>
            </a:r>
            <a:r>
              <a:rPr lang="en-US" sz="1897" spc="-3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Refine the </a:t>
            </a:r>
          </a:p>
          <a:p>
            <a:pPr algn="just">
              <a:lnSpc>
                <a:spcPts val="3552"/>
              </a:lnSpc>
            </a:pPr>
            <a:r>
              <a:rPr lang="en-US" sz="189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product mix, emphasizing private </a:t>
            </a:r>
          </a:p>
          <a:p>
            <a:pPr algn="just">
              <a:lnSpc>
                <a:spcPts val="2600"/>
              </a:lnSpc>
            </a:pPr>
            <a:r>
              <a:rPr lang="en-US" sz="189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label and health &amp; wellness categories </a:t>
            </a:r>
          </a:p>
          <a:p>
            <a:pPr algn="just">
              <a:lnSpc>
                <a:spcPts val="3355"/>
              </a:lnSpc>
            </a:pPr>
            <a:r>
              <a:rPr lang="en-US" sz="189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boost margins.</a:t>
            </a:r>
          </a:p>
          <a:p>
            <a:pPr algn="just">
              <a:lnSpc>
                <a:spcPts val="3991"/>
              </a:lnSpc>
            </a:pPr>
            <a:r>
              <a:rPr lang="en-US" b="true" sz="1897" spc="-3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Data-Driven Decisions:</a:t>
            </a:r>
            <a:r>
              <a:rPr lang="en-US" sz="1897" spc="-3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Utilize </a:t>
            </a:r>
          </a:p>
          <a:p>
            <a:pPr algn="just">
              <a:lnSpc>
                <a:spcPts val="2163"/>
              </a:lnSpc>
            </a:pPr>
            <a:r>
              <a:rPr lang="en-US" sz="189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insights from product performance </a:t>
            </a:r>
          </a:p>
          <a:p>
            <a:pPr algn="just">
              <a:lnSpc>
                <a:spcPts val="3991"/>
              </a:lnSpc>
            </a:pPr>
            <a:r>
              <a:rPr lang="en-US" sz="189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to continuously improve </a:t>
            </a:r>
          </a:p>
          <a:p>
            <a:pPr algn="just">
              <a:lnSpc>
                <a:spcPts val="1966"/>
              </a:lnSpc>
            </a:pPr>
            <a:r>
              <a:rPr lang="en-US" sz="189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inventory management and </a:t>
            </a:r>
          </a:p>
          <a:p>
            <a:pPr algn="just">
              <a:lnSpc>
                <a:spcPts val="4188"/>
              </a:lnSpc>
            </a:pPr>
            <a:r>
              <a:rPr lang="en-US" sz="189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promotional strategies.</a:t>
            </a:r>
          </a:p>
        </p:txBody>
      </p:sp>
    </p:spTree>
  </p:cSld>
  <p:clrMapOvr>
    <a:masterClrMapping/>
  </p:clrMapOvr>
  <p:transition spd="fast">
    <p:circl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18260082" cy="10286513"/>
            <a:chOff x="0" y="0"/>
            <a:chExt cx="15240000" cy="858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2" r="0" b="-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59" y="411"/>
            <a:ext cx="18260082" cy="10286102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959" y="1"/>
            <a:ext cx="18260082" cy="10286513"/>
            <a:chOff x="0" y="0"/>
            <a:chExt cx="11430000" cy="643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</a:blip>
              <a:stretch>
                <a:fillRect l="-297" t="0" r="-29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959" y="411"/>
            <a:ext cx="6847531" cy="10286102"/>
            <a:chOff x="0" y="0"/>
            <a:chExt cx="5715000" cy="85848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" t="-3" r="-2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779561" y="2865813"/>
            <a:ext cx="9576394" cy="5848294"/>
            <a:chOff x="0" y="0"/>
            <a:chExt cx="5994400" cy="3660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8199" y="68199"/>
              <a:ext cx="5858002" cy="3524249"/>
            </a:xfrm>
            <a:custGeom>
              <a:avLst/>
              <a:gdLst/>
              <a:ahLst/>
              <a:cxnLst/>
              <a:rect r="r" b="b" t="t" l="l"/>
              <a:pathLst>
                <a:path h="3524249" w="5858002">
                  <a:moveTo>
                    <a:pt x="127" y="3465321"/>
                  </a:moveTo>
                  <a:lnTo>
                    <a:pt x="127" y="59055"/>
                  </a:lnTo>
                  <a:cubicBezTo>
                    <a:pt x="127" y="55245"/>
                    <a:pt x="508" y="51308"/>
                    <a:pt x="1270" y="47498"/>
                  </a:cubicBezTo>
                  <a:cubicBezTo>
                    <a:pt x="2032" y="43688"/>
                    <a:pt x="3175" y="40005"/>
                    <a:pt x="4699" y="36449"/>
                  </a:cubicBezTo>
                  <a:cubicBezTo>
                    <a:pt x="6223" y="32893"/>
                    <a:pt x="8001" y="29464"/>
                    <a:pt x="10160" y="26289"/>
                  </a:cubicBezTo>
                  <a:cubicBezTo>
                    <a:pt x="12319" y="23114"/>
                    <a:pt x="14732" y="20066"/>
                    <a:pt x="17526" y="17399"/>
                  </a:cubicBezTo>
                  <a:cubicBezTo>
                    <a:pt x="20320" y="14732"/>
                    <a:pt x="23241" y="12192"/>
                    <a:pt x="26416" y="10033"/>
                  </a:cubicBezTo>
                  <a:cubicBezTo>
                    <a:pt x="29591" y="7874"/>
                    <a:pt x="33020" y="6096"/>
                    <a:pt x="36576" y="4572"/>
                  </a:cubicBezTo>
                  <a:cubicBezTo>
                    <a:pt x="40132" y="3048"/>
                    <a:pt x="43815" y="1905"/>
                    <a:pt x="47625" y="1143"/>
                  </a:cubicBezTo>
                  <a:cubicBezTo>
                    <a:pt x="51435" y="381"/>
                    <a:pt x="55245" y="0"/>
                    <a:pt x="59182" y="0"/>
                  </a:cubicBezTo>
                  <a:lnTo>
                    <a:pt x="5798947" y="0"/>
                  </a:lnTo>
                  <a:cubicBezTo>
                    <a:pt x="5802757" y="0"/>
                    <a:pt x="5806694" y="381"/>
                    <a:pt x="5810504" y="1143"/>
                  </a:cubicBezTo>
                  <a:cubicBezTo>
                    <a:pt x="5814314" y="1905"/>
                    <a:pt x="5817997" y="3048"/>
                    <a:pt x="5821553" y="4572"/>
                  </a:cubicBezTo>
                  <a:cubicBezTo>
                    <a:pt x="5825109" y="6096"/>
                    <a:pt x="5828538" y="7874"/>
                    <a:pt x="5831713" y="10033"/>
                  </a:cubicBezTo>
                  <a:cubicBezTo>
                    <a:pt x="5834888" y="12192"/>
                    <a:pt x="5837936" y="14605"/>
                    <a:pt x="5840603" y="17399"/>
                  </a:cubicBezTo>
                  <a:cubicBezTo>
                    <a:pt x="5843270" y="20193"/>
                    <a:pt x="5845810" y="23114"/>
                    <a:pt x="5847969" y="26289"/>
                  </a:cubicBezTo>
                  <a:cubicBezTo>
                    <a:pt x="5850128" y="29464"/>
                    <a:pt x="5851906" y="32893"/>
                    <a:pt x="5853430" y="36449"/>
                  </a:cubicBezTo>
                  <a:cubicBezTo>
                    <a:pt x="5854954" y="40005"/>
                    <a:pt x="5856097" y="43688"/>
                    <a:pt x="5856859" y="47498"/>
                  </a:cubicBezTo>
                  <a:cubicBezTo>
                    <a:pt x="5857621" y="51308"/>
                    <a:pt x="5858002" y="55118"/>
                    <a:pt x="5858002" y="59055"/>
                  </a:cubicBezTo>
                  <a:lnTo>
                    <a:pt x="5858002" y="3465321"/>
                  </a:lnTo>
                  <a:cubicBezTo>
                    <a:pt x="5858002" y="3469131"/>
                    <a:pt x="5857621" y="3473068"/>
                    <a:pt x="5856859" y="3476878"/>
                  </a:cubicBezTo>
                  <a:cubicBezTo>
                    <a:pt x="5856097" y="3480688"/>
                    <a:pt x="5854954" y="3484371"/>
                    <a:pt x="5853430" y="3487927"/>
                  </a:cubicBezTo>
                  <a:cubicBezTo>
                    <a:pt x="5851906" y="3491483"/>
                    <a:pt x="5850128" y="3494912"/>
                    <a:pt x="5847969" y="3498087"/>
                  </a:cubicBezTo>
                  <a:cubicBezTo>
                    <a:pt x="5845810" y="3501262"/>
                    <a:pt x="5843397" y="3504310"/>
                    <a:pt x="5840603" y="3506977"/>
                  </a:cubicBezTo>
                  <a:cubicBezTo>
                    <a:pt x="5837809" y="3509644"/>
                    <a:pt x="5834888" y="3512184"/>
                    <a:pt x="5831713" y="3514343"/>
                  </a:cubicBezTo>
                  <a:cubicBezTo>
                    <a:pt x="5828538" y="3516502"/>
                    <a:pt x="5825109" y="3518280"/>
                    <a:pt x="5821553" y="3519804"/>
                  </a:cubicBezTo>
                  <a:cubicBezTo>
                    <a:pt x="5817997" y="3521328"/>
                    <a:pt x="5814314" y="3522471"/>
                    <a:pt x="5810504" y="3523106"/>
                  </a:cubicBezTo>
                  <a:cubicBezTo>
                    <a:pt x="5806694" y="3523741"/>
                    <a:pt x="5802884" y="3524249"/>
                    <a:pt x="5798947" y="3524249"/>
                  </a:cubicBezTo>
                  <a:lnTo>
                    <a:pt x="59055" y="3524249"/>
                  </a:lnTo>
                  <a:cubicBezTo>
                    <a:pt x="55245" y="3524249"/>
                    <a:pt x="51308" y="3523868"/>
                    <a:pt x="47498" y="3523106"/>
                  </a:cubicBezTo>
                  <a:cubicBezTo>
                    <a:pt x="43688" y="3522344"/>
                    <a:pt x="40005" y="3521201"/>
                    <a:pt x="36449" y="3519804"/>
                  </a:cubicBezTo>
                  <a:cubicBezTo>
                    <a:pt x="32893" y="3518407"/>
                    <a:pt x="29464" y="3516502"/>
                    <a:pt x="26289" y="3514343"/>
                  </a:cubicBezTo>
                  <a:cubicBezTo>
                    <a:pt x="23114" y="3512184"/>
                    <a:pt x="20066" y="3509771"/>
                    <a:pt x="17399" y="3506977"/>
                  </a:cubicBezTo>
                  <a:cubicBezTo>
                    <a:pt x="14732" y="3504183"/>
                    <a:pt x="12192" y="3501262"/>
                    <a:pt x="10033" y="3498087"/>
                  </a:cubicBezTo>
                  <a:cubicBezTo>
                    <a:pt x="7874" y="3494912"/>
                    <a:pt x="6096" y="3491483"/>
                    <a:pt x="4572" y="3487927"/>
                  </a:cubicBezTo>
                  <a:cubicBezTo>
                    <a:pt x="3048" y="3484371"/>
                    <a:pt x="2032" y="3480688"/>
                    <a:pt x="1143" y="3476878"/>
                  </a:cubicBezTo>
                  <a:cubicBezTo>
                    <a:pt x="254" y="3473068"/>
                    <a:pt x="0" y="3469258"/>
                    <a:pt x="0" y="3465321"/>
                  </a:cubicBezTo>
                </a:path>
              </a:pathLst>
            </a:custGeom>
            <a:solidFill>
              <a:srgbClr val="FAF5E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5867400" cy="3533774"/>
            </a:xfrm>
            <a:custGeom>
              <a:avLst/>
              <a:gdLst/>
              <a:ahLst/>
              <a:cxnLst/>
              <a:rect r="r" b="b" t="t" l="l"/>
              <a:pathLst>
                <a:path h="3533774" w="5867400">
                  <a:moveTo>
                    <a:pt x="0" y="3470020"/>
                  </a:moveTo>
                  <a:lnTo>
                    <a:pt x="0" y="63754"/>
                  </a:lnTo>
                  <a:lnTo>
                    <a:pt x="4826" y="63754"/>
                  </a:lnTo>
                  <a:lnTo>
                    <a:pt x="0" y="63754"/>
                  </a:lnTo>
                  <a:cubicBezTo>
                    <a:pt x="0" y="59563"/>
                    <a:pt x="381" y="55372"/>
                    <a:pt x="1270" y="51308"/>
                  </a:cubicBezTo>
                  <a:cubicBezTo>
                    <a:pt x="2032" y="47244"/>
                    <a:pt x="3302" y="43180"/>
                    <a:pt x="4953" y="39370"/>
                  </a:cubicBezTo>
                  <a:lnTo>
                    <a:pt x="9398" y="41148"/>
                  </a:lnTo>
                  <a:lnTo>
                    <a:pt x="4953" y="39370"/>
                  </a:lnTo>
                  <a:cubicBezTo>
                    <a:pt x="6604" y="35433"/>
                    <a:pt x="8509" y="31750"/>
                    <a:pt x="10795" y="28321"/>
                  </a:cubicBezTo>
                  <a:lnTo>
                    <a:pt x="14732" y="30988"/>
                  </a:lnTo>
                  <a:lnTo>
                    <a:pt x="10795" y="28321"/>
                  </a:lnTo>
                  <a:cubicBezTo>
                    <a:pt x="13081" y="24892"/>
                    <a:pt x="15748" y="21590"/>
                    <a:pt x="18796" y="18669"/>
                  </a:cubicBezTo>
                  <a:lnTo>
                    <a:pt x="22098" y="22098"/>
                  </a:lnTo>
                  <a:lnTo>
                    <a:pt x="18669" y="18796"/>
                  </a:lnTo>
                  <a:cubicBezTo>
                    <a:pt x="21590" y="15875"/>
                    <a:pt x="24892" y="13208"/>
                    <a:pt x="28321" y="10795"/>
                  </a:cubicBezTo>
                  <a:lnTo>
                    <a:pt x="30988" y="14732"/>
                  </a:lnTo>
                  <a:lnTo>
                    <a:pt x="28321" y="10795"/>
                  </a:lnTo>
                  <a:cubicBezTo>
                    <a:pt x="31750" y="8509"/>
                    <a:pt x="35433" y="6477"/>
                    <a:pt x="39370" y="4953"/>
                  </a:cubicBezTo>
                  <a:lnTo>
                    <a:pt x="41148" y="9398"/>
                  </a:lnTo>
                  <a:lnTo>
                    <a:pt x="39370" y="4953"/>
                  </a:lnTo>
                  <a:cubicBezTo>
                    <a:pt x="43180" y="3302"/>
                    <a:pt x="47244" y="2159"/>
                    <a:pt x="51308" y="1270"/>
                  </a:cubicBezTo>
                  <a:cubicBezTo>
                    <a:pt x="55372" y="508"/>
                    <a:pt x="59563" y="0"/>
                    <a:pt x="63754" y="0"/>
                  </a:cubicBezTo>
                  <a:lnTo>
                    <a:pt x="63754" y="4826"/>
                  </a:lnTo>
                  <a:lnTo>
                    <a:pt x="63754" y="0"/>
                  </a:lnTo>
                  <a:lnTo>
                    <a:pt x="5803646" y="0"/>
                  </a:lnTo>
                  <a:lnTo>
                    <a:pt x="5803646" y="4826"/>
                  </a:lnTo>
                  <a:lnTo>
                    <a:pt x="5803646" y="0"/>
                  </a:lnTo>
                  <a:cubicBezTo>
                    <a:pt x="5807837" y="0"/>
                    <a:pt x="5812028" y="381"/>
                    <a:pt x="5816092" y="1270"/>
                  </a:cubicBezTo>
                  <a:cubicBezTo>
                    <a:pt x="5820156" y="2032"/>
                    <a:pt x="5824220" y="3302"/>
                    <a:pt x="5828030" y="4953"/>
                  </a:cubicBezTo>
                  <a:lnTo>
                    <a:pt x="5826252" y="9398"/>
                  </a:lnTo>
                  <a:lnTo>
                    <a:pt x="5828030" y="4953"/>
                  </a:lnTo>
                  <a:cubicBezTo>
                    <a:pt x="5831967" y="6604"/>
                    <a:pt x="5835650" y="8509"/>
                    <a:pt x="5839079" y="10795"/>
                  </a:cubicBezTo>
                  <a:lnTo>
                    <a:pt x="5836412" y="14732"/>
                  </a:lnTo>
                  <a:lnTo>
                    <a:pt x="5839079" y="10795"/>
                  </a:lnTo>
                  <a:cubicBezTo>
                    <a:pt x="5842508" y="13081"/>
                    <a:pt x="5845810" y="15748"/>
                    <a:pt x="5848731" y="18796"/>
                  </a:cubicBezTo>
                  <a:lnTo>
                    <a:pt x="5845302" y="22098"/>
                  </a:lnTo>
                  <a:lnTo>
                    <a:pt x="5848604" y="18669"/>
                  </a:lnTo>
                  <a:cubicBezTo>
                    <a:pt x="5851525" y="21590"/>
                    <a:pt x="5854192" y="24892"/>
                    <a:pt x="5856605" y="28321"/>
                  </a:cubicBezTo>
                  <a:lnTo>
                    <a:pt x="5852668" y="30988"/>
                  </a:lnTo>
                  <a:lnTo>
                    <a:pt x="5856605" y="28321"/>
                  </a:lnTo>
                  <a:cubicBezTo>
                    <a:pt x="5858891" y="31750"/>
                    <a:pt x="5860923" y="35433"/>
                    <a:pt x="5862447" y="39370"/>
                  </a:cubicBezTo>
                  <a:lnTo>
                    <a:pt x="5858002" y="41148"/>
                  </a:lnTo>
                  <a:lnTo>
                    <a:pt x="5862447" y="39370"/>
                  </a:lnTo>
                  <a:cubicBezTo>
                    <a:pt x="5864098" y="43180"/>
                    <a:pt x="5865241" y="47244"/>
                    <a:pt x="5866130" y="51308"/>
                  </a:cubicBezTo>
                  <a:cubicBezTo>
                    <a:pt x="5866892" y="55372"/>
                    <a:pt x="5867400" y="59563"/>
                    <a:pt x="5867400" y="63754"/>
                  </a:cubicBezTo>
                  <a:lnTo>
                    <a:pt x="5862574" y="63754"/>
                  </a:lnTo>
                  <a:lnTo>
                    <a:pt x="5867400" y="63754"/>
                  </a:lnTo>
                  <a:lnTo>
                    <a:pt x="5867400" y="3470020"/>
                  </a:lnTo>
                  <a:lnTo>
                    <a:pt x="5862574" y="3470020"/>
                  </a:lnTo>
                  <a:lnTo>
                    <a:pt x="5867400" y="3470020"/>
                  </a:lnTo>
                  <a:cubicBezTo>
                    <a:pt x="5867400" y="3474211"/>
                    <a:pt x="5867019" y="3478402"/>
                    <a:pt x="5866130" y="3482466"/>
                  </a:cubicBezTo>
                  <a:cubicBezTo>
                    <a:pt x="5865368" y="3486530"/>
                    <a:pt x="5864098" y="3490594"/>
                    <a:pt x="5862447" y="3494404"/>
                  </a:cubicBezTo>
                  <a:lnTo>
                    <a:pt x="5858002" y="3492626"/>
                  </a:lnTo>
                  <a:lnTo>
                    <a:pt x="5862447" y="3494404"/>
                  </a:lnTo>
                  <a:cubicBezTo>
                    <a:pt x="5860796" y="3498341"/>
                    <a:pt x="5858891" y="3502024"/>
                    <a:pt x="5856605" y="3505453"/>
                  </a:cubicBezTo>
                  <a:lnTo>
                    <a:pt x="5852668" y="3502786"/>
                  </a:lnTo>
                  <a:lnTo>
                    <a:pt x="5856605" y="3505453"/>
                  </a:lnTo>
                  <a:cubicBezTo>
                    <a:pt x="5854319" y="3509009"/>
                    <a:pt x="5851652" y="3512184"/>
                    <a:pt x="5848604" y="3515105"/>
                  </a:cubicBezTo>
                  <a:lnTo>
                    <a:pt x="5845302" y="3511676"/>
                  </a:lnTo>
                  <a:lnTo>
                    <a:pt x="5848731" y="3514978"/>
                  </a:lnTo>
                  <a:cubicBezTo>
                    <a:pt x="5845810" y="3517899"/>
                    <a:pt x="5842508" y="3520566"/>
                    <a:pt x="5839079" y="3522979"/>
                  </a:cubicBezTo>
                  <a:cubicBezTo>
                    <a:pt x="5835650" y="3525265"/>
                    <a:pt x="5831967" y="3527297"/>
                    <a:pt x="5828030" y="3528821"/>
                  </a:cubicBezTo>
                  <a:lnTo>
                    <a:pt x="5826252" y="3524376"/>
                  </a:lnTo>
                  <a:lnTo>
                    <a:pt x="5828030" y="3528821"/>
                  </a:lnTo>
                  <a:cubicBezTo>
                    <a:pt x="5824220" y="3530472"/>
                    <a:pt x="5820156" y="3531615"/>
                    <a:pt x="5816092" y="3532504"/>
                  </a:cubicBezTo>
                  <a:cubicBezTo>
                    <a:pt x="5812028" y="3533266"/>
                    <a:pt x="5807837" y="3533774"/>
                    <a:pt x="5803646" y="3533774"/>
                  </a:cubicBezTo>
                  <a:lnTo>
                    <a:pt x="5803646" y="3528948"/>
                  </a:lnTo>
                  <a:lnTo>
                    <a:pt x="5803646" y="3533774"/>
                  </a:lnTo>
                  <a:lnTo>
                    <a:pt x="63754" y="3533774"/>
                  </a:lnTo>
                  <a:lnTo>
                    <a:pt x="63754" y="3528948"/>
                  </a:lnTo>
                  <a:lnTo>
                    <a:pt x="63754" y="3533774"/>
                  </a:lnTo>
                  <a:cubicBezTo>
                    <a:pt x="59563" y="3533774"/>
                    <a:pt x="55372" y="3533393"/>
                    <a:pt x="51308" y="3532504"/>
                  </a:cubicBezTo>
                  <a:lnTo>
                    <a:pt x="52197" y="3527805"/>
                  </a:lnTo>
                  <a:lnTo>
                    <a:pt x="51308" y="3532504"/>
                  </a:lnTo>
                  <a:cubicBezTo>
                    <a:pt x="47244" y="3531742"/>
                    <a:pt x="43180" y="3530472"/>
                    <a:pt x="39370" y="3528821"/>
                  </a:cubicBezTo>
                  <a:lnTo>
                    <a:pt x="41148" y="3524376"/>
                  </a:lnTo>
                  <a:lnTo>
                    <a:pt x="39370" y="3528821"/>
                  </a:lnTo>
                  <a:cubicBezTo>
                    <a:pt x="35433" y="3527170"/>
                    <a:pt x="31877" y="3525265"/>
                    <a:pt x="28321" y="3522979"/>
                  </a:cubicBezTo>
                  <a:cubicBezTo>
                    <a:pt x="24892" y="3520693"/>
                    <a:pt x="21590" y="3518026"/>
                    <a:pt x="18669" y="3514978"/>
                  </a:cubicBezTo>
                  <a:lnTo>
                    <a:pt x="22098" y="3511676"/>
                  </a:lnTo>
                  <a:lnTo>
                    <a:pt x="18796" y="3515105"/>
                  </a:lnTo>
                  <a:cubicBezTo>
                    <a:pt x="15875" y="3512184"/>
                    <a:pt x="13208" y="3508882"/>
                    <a:pt x="10795" y="3505453"/>
                  </a:cubicBezTo>
                  <a:lnTo>
                    <a:pt x="14732" y="3502786"/>
                  </a:lnTo>
                  <a:lnTo>
                    <a:pt x="10795" y="3505453"/>
                  </a:lnTo>
                  <a:cubicBezTo>
                    <a:pt x="8509" y="3502024"/>
                    <a:pt x="6477" y="3498341"/>
                    <a:pt x="4953" y="3494404"/>
                  </a:cubicBezTo>
                  <a:lnTo>
                    <a:pt x="9398" y="3492626"/>
                  </a:lnTo>
                  <a:lnTo>
                    <a:pt x="4953" y="3494404"/>
                  </a:lnTo>
                  <a:cubicBezTo>
                    <a:pt x="3302" y="3490594"/>
                    <a:pt x="2159" y="3486530"/>
                    <a:pt x="1270" y="3482466"/>
                  </a:cubicBezTo>
                  <a:cubicBezTo>
                    <a:pt x="508" y="3478402"/>
                    <a:pt x="0" y="3474211"/>
                    <a:pt x="0" y="3470020"/>
                  </a:cubicBezTo>
                  <a:lnTo>
                    <a:pt x="4826" y="3470020"/>
                  </a:lnTo>
                  <a:lnTo>
                    <a:pt x="0" y="3470020"/>
                  </a:lnTo>
                  <a:moveTo>
                    <a:pt x="9525" y="3470020"/>
                  </a:moveTo>
                  <a:cubicBezTo>
                    <a:pt x="9525" y="3473576"/>
                    <a:pt x="9906" y="3477132"/>
                    <a:pt x="10541" y="3480561"/>
                  </a:cubicBezTo>
                  <a:lnTo>
                    <a:pt x="5842" y="3481450"/>
                  </a:lnTo>
                  <a:lnTo>
                    <a:pt x="10541" y="3480561"/>
                  </a:lnTo>
                  <a:cubicBezTo>
                    <a:pt x="11303" y="3484117"/>
                    <a:pt x="12319" y="3487419"/>
                    <a:pt x="13589" y="3490721"/>
                  </a:cubicBezTo>
                  <a:cubicBezTo>
                    <a:pt x="14986" y="3494023"/>
                    <a:pt x="16637" y="3497071"/>
                    <a:pt x="18542" y="3500119"/>
                  </a:cubicBezTo>
                  <a:cubicBezTo>
                    <a:pt x="20447" y="3503040"/>
                    <a:pt x="22733" y="3505834"/>
                    <a:pt x="25273" y="3508374"/>
                  </a:cubicBezTo>
                  <a:cubicBezTo>
                    <a:pt x="27813" y="3510914"/>
                    <a:pt x="30480" y="3513073"/>
                    <a:pt x="33528" y="3515105"/>
                  </a:cubicBezTo>
                  <a:lnTo>
                    <a:pt x="30861" y="3519042"/>
                  </a:lnTo>
                  <a:lnTo>
                    <a:pt x="33528" y="3515105"/>
                  </a:lnTo>
                  <a:cubicBezTo>
                    <a:pt x="36449" y="3517137"/>
                    <a:pt x="39624" y="3518788"/>
                    <a:pt x="42926" y="3520058"/>
                  </a:cubicBezTo>
                  <a:cubicBezTo>
                    <a:pt x="46228" y="3521455"/>
                    <a:pt x="49657" y="3522471"/>
                    <a:pt x="53086" y="3523106"/>
                  </a:cubicBezTo>
                  <a:cubicBezTo>
                    <a:pt x="56642" y="3523741"/>
                    <a:pt x="60071" y="3524122"/>
                    <a:pt x="63627" y="3524122"/>
                  </a:cubicBezTo>
                  <a:lnTo>
                    <a:pt x="5803646" y="3524122"/>
                  </a:lnTo>
                  <a:cubicBezTo>
                    <a:pt x="5807202" y="3524122"/>
                    <a:pt x="5810758" y="3523741"/>
                    <a:pt x="5814187" y="3523106"/>
                  </a:cubicBezTo>
                  <a:lnTo>
                    <a:pt x="5815076" y="3527805"/>
                  </a:lnTo>
                  <a:lnTo>
                    <a:pt x="5814187" y="3523106"/>
                  </a:lnTo>
                  <a:cubicBezTo>
                    <a:pt x="5817616" y="3522471"/>
                    <a:pt x="5821045" y="3521328"/>
                    <a:pt x="5824347" y="3520058"/>
                  </a:cubicBezTo>
                  <a:cubicBezTo>
                    <a:pt x="5827649" y="3518661"/>
                    <a:pt x="5830824" y="3517010"/>
                    <a:pt x="5833745" y="3515105"/>
                  </a:cubicBezTo>
                  <a:lnTo>
                    <a:pt x="5836412" y="3519042"/>
                  </a:lnTo>
                  <a:lnTo>
                    <a:pt x="5833745" y="3515105"/>
                  </a:lnTo>
                  <a:cubicBezTo>
                    <a:pt x="5836666" y="3513073"/>
                    <a:pt x="5839460" y="3510914"/>
                    <a:pt x="5842000" y="3508374"/>
                  </a:cubicBezTo>
                  <a:cubicBezTo>
                    <a:pt x="5844540" y="3505834"/>
                    <a:pt x="5846826" y="3503167"/>
                    <a:pt x="5848731" y="3500119"/>
                  </a:cubicBezTo>
                  <a:cubicBezTo>
                    <a:pt x="5850763" y="3497198"/>
                    <a:pt x="5852414" y="3494023"/>
                    <a:pt x="5853684" y="3490721"/>
                  </a:cubicBezTo>
                  <a:cubicBezTo>
                    <a:pt x="5855081" y="3487419"/>
                    <a:pt x="5856097" y="3483990"/>
                    <a:pt x="5856732" y="3480561"/>
                  </a:cubicBezTo>
                  <a:lnTo>
                    <a:pt x="5861431" y="3481450"/>
                  </a:lnTo>
                  <a:lnTo>
                    <a:pt x="5856732" y="3480561"/>
                  </a:lnTo>
                  <a:cubicBezTo>
                    <a:pt x="5857367" y="3477005"/>
                    <a:pt x="5857748" y="3473576"/>
                    <a:pt x="5857748" y="3470020"/>
                  </a:cubicBezTo>
                  <a:lnTo>
                    <a:pt x="5857748" y="63754"/>
                  </a:lnTo>
                  <a:cubicBezTo>
                    <a:pt x="5857748" y="60198"/>
                    <a:pt x="5857367" y="56642"/>
                    <a:pt x="5856732" y="53213"/>
                  </a:cubicBezTo>
                  <a:lnTo>
                    <a:pt x="5861431" y="52324"/>
                  </a:lnTo>
                  <a:lnTo>
                    <a:pt x="5856732" y="53213"/>
                  </a:lnTo>
                  <a:cubicBezTo>
                    <a:pt x="5855970" y="49657"/>
                    <a:pt x="5854954" y="46355"/>
                    <a:pt x="5853684" y="43053"/>
                  </a:cubicBezTo>
                  <a:cubicBezTo>
                    <a:pt x="5852287" y="39751"/>
                    <a:pt x="5850636" y="36703"/>
                    <a:pt x="5848731" y="33655"/>
                  </a:cubicBezTo>
                  <a:cubicBezTo>
                    <a:pt x="5846826" y="30734"/>
                    <a:pt x="5844540" y="27940"/>
                    <a:pt x="5842000" y="25400"/>
                  </a:cubicBezTo>
                  <a:cubicBezTo>
                    <a:pt x="5839460" y="22860"/>
                    <a:pt x="5836793" y="20574"/>
                    <a:pt x="5833745" y="18669"/>
                  </a:cubicBezTo>
                  <a:cubicBezTo>
                    <a:pt x="5830824" y="16637"/>
                    <a:pt x="5827649" y="14986"/>
                    <a:pt x="5824347" y="13716"/>
                  </a:cubicBezTo>
                  <a:cubicBezTo>
                    <a:pt x="5821045" y="12319"/>
                    <a:pt x="5817616" y="11303"/>
                    <a:pt x="5814187" y="10668"/>
                  </a:cubicBezTo>
                  <a:lnTo>
                    <a:pt x="5815076" y="5969"/>
                  </a:lnTo>
                  <a:lnTo>
                    <a:pt x="5814187" y="10668"/>
                  </a:lnTo>
                  <a:cubicBezTo>
                    <a:pt x="5810631" y="10033"/>
                    <a:pt x="5807202" y="9652"/>
                    <a:pt x="5803646" y="9652"/>
                  </a:cubicBezTo>
                  <a:lnTo>
                    <a:pt x="63754" y="9652"/>
                  </a:lnTo>
                  <a:cubicBezTo>
                    <a:pt x="60198" y="9652"/>
                    <a:pt x="56642" y="10033"/>
                    <a:pt x="53213" y="10668"/>
                  </a:cubicBezTo>
                  <a:lnTo>
                    <a:pt x="52324" y="5969"/>
                  </a:lnTo>
                  <a:lnTo>
                    <a:pt x="53213" y="10668"/>
                  </a:lnTo>
                  <a:cubicBezTo>
                    <a:pt x="49657" y="11430"/>
                    <a:pt x="46355" y="12446"/>
                    <a:pt x="43053" y="13716"/>
                  </a:cubicBezTo>
                  <a:cubicBezTo>
                    <a:pt x="39751" y="15113"/>
                    <a:pt x="36703" y="16764"/>
                    <a:pt x="33655" y="18669"/>
                  </a:cubicBezTo>
                  <a:cubicBezTo>
                    <a:pt x="30607" y="20701"/>
                    <a:pt x="27940" y="22860"/>
                    <a:pt x="25400" y="25400"/>
                  </a:cubicBezTo>
                  <a:cubicBezTo>
                    <a:pt x="22860" y="27940"/>
                    <a:pt x="20574" y="30607"/>
                    <a:pt x="18669" y="33655"/>
                  </a:cubicBezTo>
                  <a:cubicBezTo>
                    <a:pt x="16637" y="36576"/>
                    <a:pt x="14986" y="39751"/>
                    <a:pt x="13716" y="43053"/>
                  </a:cubicBezTo>
                  <a:cubicBezTo>
                    <a:pt x="12319" y="46355"/>
                    <a:pt x="11303" y="49784"/>
                    <a:pt x="10668" y="53213"/>
                  </a:cubicBezTo>
                  <a:lnTo>
                    <a:pt x="5969" y="52324"/>
                  </a:lnTo>
                  <a:lnTo>
                    <a:pt x="10668" y="53213"/>
                  </a:lnTo>
                  <a:cubicBezTo>
                    <a:pt x="10033" y="56769"/>
                    <a:pt x="9652" y="60198"/>
                    <a:pt x="9652" y="63754"/>
                  </a:cubicBezTo>
                  <a:lnTo>
                    <a:pt x="9652" y="3470020"/>
                  </a:lnTo>
                  <a:close/>
                </a:path>
              </a:pathLst>
            </a:custGeom>
            <a:solidFill>
              <a:srgbClr val="D5CDB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73025" y="73025"/>
              <a:ext cx="2924175" cy="2190749"/>
            </a:xfrm>
            <a:custGeom>
              <a:avLst/>
              <a:gdLst/>
              <a:ahLst/>
              <a:cxnLst/>
              <a:rect r="r" b="b" t="t" l="l"/>
              <a:pathLst>
                <a:path h="2190749" w="2924175">
                  <a:moveTo>
                    <a:pt x="0" y="2190749"/>
                  </a:moveTo>
                  <a:lnTo>
                    <a:pt x="0" y="63754"/>
                  </a:lnTo>
                  <a:cubicBezTo>
                    <a:pt x="0" y="59563"/>
                    <a:pt x="381" y="55372"/>
                    <a:pt x="1270" y="51308"/>
                  </a:cubicBezTo>
                  <a:cubicBezTo>
                    <a:pt x="2159" y="47244"/>
                    <a:pt x="3302" y="43180"/>
                    <a:pt x="4953" y="39370"/>
                  </a:cubicBezTo>
                  <a:cubicBezTo>
                    <a:pt x="6604" y="35560"/>
                    <a:pt x="8509" y="31877"/>
                    <a:pt x="10795" y="28321"/>
                  </a:cubicBezTo>
                  <a:cubicBezTo>
                    <a:pt x="13081" y="24765"/>
                    <a:pt x="15748" y="21590"/>
                    <a:pt x="18669" y="18669"/>
                  </a:cubicBezTo>
                  <a:cubicBezTo>
                    <a:pt x="21590" y="15748"/>
                    <a:pt x="24892" y="13081"/>
                    <a:pt x="28321" y="10795"/>
                  </a:cubicBezTo>
                  <a:cubicBezTo>
                    <a:pt x="31750" y="8509"/>
                    <a:pt x="35433" y="6477"/>
                    <a:pt x="39370" y="4953"/>
                  </a:cubicBezTo>
                  <a:cubicBezTo>
                    <a:pt x="43307" y="3429"/>
                    <a:pt x="47244" y="2159"/>
                    <a:pt x="51308" y="1270"/>
                  </a:cubicBezTo>
                  <a:cubicBezTo>
                    <a:pt x="55372" y="381"/>
                    <a:pt x="59563" y="0"/>
                    <a:pt x="63754" y="0"/>
                  </a:cubicBezTo>
                  <a:lnTo>
                    <a:pt x="2924175" y="0"/>
                  </a:lnTo>
                  <a:lnTo>
                    <a:pt x="2924175" y="2190749"/>
                  </a:lnTo>
                  <a:lnTo>
                    <a:pt x="0" y="2190749"/>
                  </a:lnTo>
                </a:path>
              </a:pathLst>
            </a:custGeom>
            <a:solidFill>
              <a:srgbClr val="FAF5E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997200" y="73025"/>
              <a:ext cx="2924175" cy="2190749"/>
            </a:xfrm>
            <a:custGeom>
              <a:avLst/>
              <a:gdLst/>
              <a:ahLst/>
              <a:cxnLst/>
              <a:rect r="r" b="b" t="t" l="l"/>
              <a:pathLst>
                <a:path h="2190749" w="2924175">
                  <a:moveTo>
                    <a:pt x="0" y="2190749"/>
                  </a:moveTo>
                  <a:lnTo>
                    <a:pt x="0" y="0"/>
                  </a:lnTo>
                  <a:lnTo>
                    <a:pt x="2860421" y="0"/>
                  </a:lnTo>
                  <a:cubicBezTo>
                    <a:pt x="2864612" y="0"/>
                    <a:pt x="2868803" y="381"/>
                    <a:pt x="2872867" y="1270"/>
                  </a:cubicBezTo>
                  <a:cubicBezTo>
                    <a:pt x="2876931" y="2159"/>
                    <a:pt x="2880995" y="3302"/>
                    <a:pt x="2884805" y="4953"/>
                  </a:cubicBezTo>
                  <a:cubicBezTo>
                    <a:pt x="2888615" y="6604"/>
                    <a:pt x="2892298" y="8509"/>
                    <a:pt x="2895854" y="10795"/>
                  </a:cubicBezTo>
                  <a:cubicBezTo>
                    <a:pt x="2899410" y="13081"/>
                    <a:pt x="2902585" y="15748"/>
                    <a:pt x="2905506" y="18669"/>
                  </a:cubicBezTo>
                  <a:cubicBezTo>
                    <a:pt x="2908427" y="21590"/>
                    <a:pt x="2911094" y="24892"/>
                    <a:pt x="2913380" y="28321"/>
                  </a:cubicBezTo>
                  <a:cubicBezTo>
                    <a:pt x="2915666" y="31750"/>
                    <a:pt x="2917698" y="35433"/>
                    <a:pt x="2919222" y="39370"/>
                  </a:cubicBezTo>
                  <a:cubicBezTo>
                    <a:pt x="2920746" y="43307"/>
                    <a:pt x="2922016" y="47244"/>
                    <a:pt x="2922905" y="51308"/>
                  </a:cubicBezTo>
                  <a:cubicBezTo>
                    <a:pt x="2923794" y="55372"/>
                    <a:pt x="2924175" y="59563"/>
                    <a:pt x="2924175" y="63754"/>
                  </a:cubicBezTo>
                  <a:lnTo>
                    <a:pt x="2924175" y="2190749"/>
                  </a:lnTo>
                  <a:lnTo>
                    <a:pt x="0" y="2190749"/>
                  </a:lnTo>
                </a:path>
              </a:pathLst>
            </a:custGeom>
            <a:solidFill>
              <a:srgbClr val="FAF5E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997200" y="73025"/>
              <a:ext cx="19050" cy="2190749"/>
            </a:xfrm>
            <a:custGeom>
              <a:avLst/>
              <a:gdLst/>
              <a:ahLst/>
              <a:cxnLst/>
              <a:rect r="r" b="b" t="t" l="l"/>
              <a:pathLst>
                <a:path h="2190749" w="19050">
                  <a:moveTo>
                    <a:pt x="0" y="2181224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2181224"/>
                  </a:lnTo>
                  <a:cubicBezTo>
                    <a:pt x="19050" y="2183891"/>
                    <a:pt x="18161" y="2186050"/>
                    <a:pt x="16256" y="2187955"/>
                  </a:cubicBezTo>
                  <a:cubicBezTo>
                    <a:pt x="14351" y="2189860"/>
                    <a:pt x="12192" y="2190749"/>
                    <a:pt x="9525" y="2190749"/>
                  </a:cubicBezTo>
                  <a:cubicBezTo>
                    <a:pt x="6858" y="2190749"/>
                    <a:pt x="4699" y="2189860"/>
                    <a:pt x="2794" y="2187955"/>
                  </a:cubicBezTo>
                  <a:cubicBezTo>
                    <a:pt x="889" y="2186050"/>
                    <a:pt x="0" y="2183891"/>
                    <a:pt x="0" y="2181224"/>
                  </a:cubicBezTo>
                </a:path>
              </a:pathLst>
            </a:custGeom>
            <a:solidFill>
              <a:srgbClr val="D5CDB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3025" y="2263774"/>
              <a:ext cx="5848350" cy="1323975"/>
            </a:xfrm>
            <a:custGeom>
              <a:avLst/>
              <a:gdLst/>
              <a:ahLst/>
              <a:cxnLst/>
              <a:rect r="r" b="b" t="t" l="l"/>
              <a:pathLst>
                <a:path h="1323975" w="5848350">
                  <a:moveTo>
                    <a:pt x="0" y="1260221"/>
                  </a:moveTo>
                  <a:lnTo>
                    <a:pt x="0" y="0"/>
                  </a:lnTo>
                  <a:lnTo>
                    <a:pt x="5848350" y="0"/>
                  </a:lnTo>
                  <a:lnTo>
                    <a:pt x="5848350" y="1260221"/>
                  </a:lnTo>
                  <a:cubicBezTo>
                    <a:pt x="5848350" y="1264412"/>
                    <a:pt x="5847969" y="1268603"/>
                    <a:pt x="5847080" y="1272667"/>
                  </a:cubicBezTo>
                  <a:cubicBezTo>
                    <a:pt x="5846191" y="1276731"/>
                    <a:pt x="5845048" y="1280795"/>
                    <a:pt x="5843397" y="1284605"/>
                  </a:cubicBezTo>
                  <a:cubicBezTo>
                    <a:pt x="5841746" y="1288415"/>
                    <a:pt x="5839841" y="1292098"/>
                    <a:pt x="5837555" y="1295654"/>
                  </a:cubicBezTo>
                  <a:cubicBezTo>
                    <a:pt x="5835269" y="1299210"/>
                    <a:pt x="5832602" y="1302385"/>
                    <a:pt x="5829681" y="1305306"/>
                  </a:cubicBezTo>
                  <a:cubicBezTo>
                    <a:pt x="5826760" y="1308227"/>
                    <a:pt x="5823458" y="1310894"/>
                    <a:pt x="5820029" y="1313180"/>
                  </a:cubicBezTo>
                  <a:cubicBezTo>
                    <a:pt x="5816600" y="1315466"/>
                    <a:pt x="5812917" y="1317498"/>
                    <a:pt x="5808980" y="1319022"/>
                  </a:cubicBezTo>
                  <a:cubicBezTo>
                    <a:pt x="5805043" y="1320546"/>
                    <a:pt x="5801106" y="1321816"/>
                    <a:pt x="5797042" y="1322705"/>
                  </a:cubicBezTo>
                  <a:cubicBezTo>
                    <a:pt x="5792978" y="1323594"/>
                    <a:pt x="5788787" y="1323975"/>
                    <a:pt x="5784596" y="1323975"/>
                  </a:cubicBezTo>
                  <a:lnTo>
                    <a:pt x="63754" y="1323975"/>
                  </a:lnTo>
                  <a:cubicBezTo>
                    <a:pt x="59563" y="1323975"/>
                    <a:pt x="55372" y="1323594"/>
                    <a:pt x="51308" y="1322705"/>
                  </a:cubicBezTo>
                  <a:cubicBezTo>
                    <a:pt x="47244" y="1321816"/>
                    <a:pt x="43180" y="1320673"/>
                    <a:pt x="39370" y="1319022"/>
                  </a:cubicBezTo>
                  <a:cubicBezTo>
                    <a:pt x="35560" y="1317371"/>
                    <a:pt x="31877" y="1315466"/>
                    <a:pt x="28321" y="1313180"/>
                  </a:cubicBezTo>
                  <a:cubicBezTo>
                    <a:pt x="24765" y="1310894"/>
                    <a:pt x="21590" y="1308227"/>
                    <a:pt x="18669" y="1305306"/>
                  </a:cubicBezTo>
                  <a:cubicBezTo>
                    <a:pt x="15748" y="1302385"/>
                    <a:pt x="13081" y="1299083"/>
                    <a:pt x="10795" y="1295654"/>
                  </a:cubicBezTo>
                  <a:cubicBezTo>
                    <a:pt x="8509" y="1292225"/>
                    <a:pt x="6477" y="1288542"/>
                    <a:pt x="4953" y="1284605"/>
                  </a:cubicBezTo>
                  <a:cubicBezTo>
                    <a:pt x="3429" y="1280668"/>
                    <a:pt x="2159" y="1276731"/>
                    <a:pt x="1270" y="1272667"/>
                  </a:cubicBezTo>
                  <a:cubicBezTo>
                    <a:pt x="381" y="1268603"/>
                    <a:pt x="0" y="1264412"/>
                    <a:pt x="0" y="1260221"/>
                  </a:cubicBezTo>
                </a:path>
              </a:pathLst>
            </a:custGeom>
            <a:solidFill>
              <a:srgbClr val="FAF5EB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3025" y="2263774"/>
              <a:ext cx="5848350" cy="19050"/>
            </a:xfrm>
            <a:custGeom>
              <a:avLst/>
              <a:gdLst/>
              <a:ahLst/>
              <a:cxnLst/>
              <a:rect r="r" b="b" t="t" l="l"/>
              <a:pathLst>
                <a:path h="19050" w="58483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838825" y="0"/>
                  </a:lnTo>
                  <a:cubicBezTo>
                    <a:pt x="5841492" y="0"/>
                    <a:pt x="5843651" y="889"/>
                    <a:pt x="5845556" y="2794"/>
                  </a:cubicBezTo>
                  <a:cubicBezTo>
                    <a:pt x="5847461" y="4699"/>
                    <a:pt x="5848350" y="6858"/>
                    <a:pt x="5848350" y="9525"/>
                  </a:cubicBezTo>
                  <a:cubicBezTo>
                    <a:pt x="5848350" y="12192"/>
                    <a:pt x="5847461" y="14351"/>
                    <a:pt x="5845556" y="16256"/>
                  </a:cubicBezTo>
                  <a:cubicBezTo>
                    <a:pt x="5843651" y="18161"/>
                    <a:pt x="5841492" y="19050"/>
                    <a:pt x="58388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D5CDB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880052" y="1802476"/>
            <a:ext cx="7474112" cy="72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5391" spc="8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Conclusion &amp; Next Steps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57821" y="2937782"/>
            <a:ext cx="86264" cy="75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2695" spc="40">
                <a:solidFill>
                  <a:srgbClr val="2B354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86304" y="6590032"/>
            <a:ext cx="3369397" cy="59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b="true" sz="2695" spc="40">
                <a:solidFill>
                  <a:srgbClr val="2B354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Actionable Insights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60260" y="7238098"/>
            <a:ext cx="73299" cy="55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0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86304" y="3099707"/>
            <a:ext cx="3523784" cy="58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3"/>
              </a:lnSpc>
            </a:pPr>
            <a:r>
              <a:rPr lang="en-US" b="true" sz="2695" spc="40">
                <a:solidFill>
                  <a:srgbClr val="2B354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Strong</a:t>
            </a:r>
            <a:r>
              <a:rPr lang="en-US" b="true" sz="2695" spc="4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2695" spc="40">
                <a:solidFill>
                  <a:srgbClr val="2B354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Performance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01711" y="3732557"/>
            <a:ext cx="73299" cy="54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6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58786" y="3223532"/>
            <a:ext cx="3958664" cy="326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b="true" sz="2695" spc="40">
                <a:solidFill>
                  <a:srgbClr val="2B354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</a:t>
            </a:r>
            <a:r>
              <a:rPr lang="en-US" b="true" sz="2695" spc="4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2695" spc="40">
                <a:solidFill>
                  <a:srgbClr val="2B354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Focus</a:t>
            </a:r>
          </a:p>
          <a:p>
            <a:pPr algn="l">
              <a:lnSpc>
                <a:spcPts val="3633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Sustained success in FY27 will hinge on continued commitment to technology, </a:t>
            </a:r>
          </a:p>
          <a:p>
            <a:pPr algn="l">
              <a:lnSpc>
                <a:spcPts val="3954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superior customer experience, </a:t>
            </a:r>
          </a:p>
          <a:p>
            <a:pPr algn="l">
              <a:lnSpc>
                <a:spcPts val="3475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 strategic investments.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86304" y="3837332"/>
            <a:ext cx="3939019" cy="231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Walmart'sFY26 results underscore robust growth and healthy margin expansion </a:t>
            </a:r>
          </a:p>
          <a:p>
            <a:pPr algn="l">
              <a:lnSpc>
                <a:spcPts val="3954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despite dynamic retail </a:t>
            </a:r>
          </a:p>
          <a:p>
            <a:pPr algn="l">
              <a:lnSpc>
                <a:spcPts val="3475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conditions.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86304" y="7342873"/>
            <a:ext cx="8932908" cy="44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Ournext stepinvolvesadeep dive into product performance charts to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86304" y="7814592"/>
            <a:ext cx="7749229" cy="44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290" spc="-2">
                <a:solidFill>
                  <a:srgbClr val="2B3541"/>
                </a:solidFill>
                <a:latin typeface="IBM Plex Sans"/>
                <a:ea typeface="IBM Plex Sans"/>
                <a:cs typeface="IBM Plex Sans"/>
                <a:sym typeface="IBM Plex Sans"/>
              </a:rPr>
              <a:t>pinpoint specific opportunities for targeted growth initiatives.</a:t>
            </a:r>
          </a:p>
        </p:txBody>
      </p:sp>
    </p:spTree>
  </p:cSld>
  <p:clrMapOvr>
    <a:masterClrMapping/>
  </p:clrMapOvr>
  <p:transition spd="fast"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DAHC5A_xiPs</dc:identifier>
  <dcterms:modified xsi:type="dcterms:W3CDTF">2011-08-01T06:04:30Z</dcterms:modified>
  <cp:revision>1</cp:revision>
  <dc:title>Copy of Enhanced Profitability Operating income rose 10.8%, a testament to improved margins and strategic business mix adjustments.</dc:title>
</cp:coreProperties>
</file>